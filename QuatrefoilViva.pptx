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7"/>
  </p:notesMasterIdLst>
  <p:handoutMasterIdLst>
    <p:handoutMasterId r:id="rId28"/>
  </p:handoutMasterIdLst>
  <p:sldIdLst>
    <p:sldId id="256" r:id="rId5"/>
    <p:sldId id="277" r:id="rId6"/>
    <p:sldId id="295" r:id="rId7"/>
    <p:sldId id="294" r:id="rId8"/>
    <p:sldId id="262" r:id="rId9"/>
    <p:sldId id="289" r:id="rId10"/>
    <p:sldId id="264" r:id="rId11"/>
    <p:sldId id="258" r:id="rId12"/>
    <p:sldId id="278" r:id="rId13"/>
    <p:sldId id="266" r:id="rId14"/>
    <p:sldId id="292" r:id="rId15"/>
    <p:sldId id="293" r:id="rId16"/>
    <p:sldId id="280" r:id="rId17"/>
    <p:sldId id="270" r:id="rId18"/>
    <p:sldId id="271" r:id="rId19"/>
    <p:sldId id="287" r:id="rId20"/>
    <p:sldId id="260" r:id="rId21"/>
    <p:sldId id="282" r:id="rId22"/>
    <p:sldId id="283" r:id="rId23"/>
    <p:sldId id="290" r:id="rId24"/>
    <p:sldId id="275" r:id="rId25"/>
    <p:sldId id="276" r:id="rId26"/>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4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7680"/>
        <c:crosses val="autoZero"/>
        <c:crossBetween val="between"/>
        <c:majorUnit val="10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1CE6-4310-A8B0-2035D854994C}"/>
              </c:ext>
            </c:extLst>
          </c:dPt>
          <c:dPt>
            <c:idx val="1"/>
            <c:bubble3D val="0"/>
            <c:spPr>
              <a:solidFill>
                <a:schemeClr val="accent1"/>
              </a:solidFill>
              <a:ln w="19050">
                <a:noFill/>
              </a:ln>
              <a:effectLst/>
            </c:spPr>
            <c:extLst>
              <c:ext xmlns:c16="http://schemas.microsoft.com/office/drawing/2014/chart" uri="{C3380CC4-5D6E-409C-BE32-E72D297353CC}">
                <c16:uniqueId val="{00000003-1CE6-4310-A8B0-2035D854994C}"/>
              </c:ext>
            </c:extLst>
          </c:dPt>
          <c:dPt>
            <c:idx val="2"/>
            <c:bubble3D val="0"/>
            <c:spPr>
              <a:solidFill>
                <a:schemeClr val="tx1"/>
              </a:solidFill>
              <a:ln w="19050">
                <a:noFill/>
              </a:ln>
              <a:effectLst/>
            </c:spPr>
            <c:extLst>
              <c:ext xmlns:c16="http://schemas.microsoft.com/office/drawing/2014/chart" uri="{C3380CC4-5D6E-409C-BE32-E72D297353CC}">
                <c16:uniqueId val="{00000005-1CE6-4310-A8B0-2035D854994C}"/>
              </c:ext>
            </c:extLst>
          </c:dPt>
          <c:dPt>
            <c:idx val="3"/>
            <c:bubble3D val="0"/>
            <c:spPr>
              <a:solidFill>
                <a:schemeClr val="accent1"/>
              </a:solidFill>
              <a:ln w="19050">
                <a:noFill/>
              </a:ln>
              <a:effectLst/>
            </c:spPr>
            <c:extLst>
              <c:ext xmlns:c16="http://schemas.microsoft.com/office/drawing/2014/chart" uri="{C3380CC4-5D6E-409C-BE32-E72D297353CC}">
                <c16:uniqueId val="{00000007-1CE6-4310-A8B0-2035D854994C}"/>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1CE6-4310-A8B0-2035D854994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E8EE-4329-89F6-BD625CE6A08A}"/>
              </c:ext>
            </c:extLst>
          </c:dPt>
          <c:dPt>
            <c:idx val="1"/>
            <c:bubble3D val="0"/>
            <c:spPr>
              <a:solidFill>
                <a:schemeClr val="accent1"/>
              </a:solidFill>
              <a:ln w="19050">
                <a:noFill/>
              </a:ln>
              <a:effectLst/>
            </c:spPr>
            <c:extLst>
              <c:ext xmlns:c16="http://schemas.microsoft.com/office/drawing/2014/chart" uri="{C3380CC4-5D6E-409C-BE32-E72D297353CC}">
                <c16:uniqueId val="{00000003-E8EE-4329-89F6-BD625CE6A08A}"/>
              </c:ext>
            </c:extLst>
          </c:dPt>
          <c:dPt>
            <c:idx val="2"/>
            <c:bubble3D val="0"/>
            <c:spPr>
              <a:solidFill>
                <a:schemeClr val="accent1"/>
              </a:solidFill>
              <a:ln w="19050">
                <a:noFill/>
              </a:ln>
              <a:effectLst/>
            </c:spPr>
            <c:extLst>
              <c:ext xmlns:c16="http://schemas.microsoft.com/office/drawing/2014/chart" uri="{C3380CC4-5D6E-409C-BE32-E72D297353CC}">
                <c16:uniqueId val="{00000005-E8EE-4329-89F6-BD625CE6A08A}"/>
              </c:ext>
            </c:extLst>
          </c:dPt>
          <c:dPt>
            <c:idx val="3"/>
            <c:bubble3D val="0"/>
            <c:spPr>
              <a:solidFill>
                <a:schemeClr val="tx1"/>
              </a:solidFill>
              <a:ln w="19050">
                <a:noFill/>
              </a:ln>
              <a:effectLst/>
            </c:spPr>
            <c:extLst>
              <c:ext xmlns:c16="http://schemas.microsoft.com/office/drawing/2014/chart" uri="{C3380CC4-5D6E-409C-BE32-E72D297353CC}">
                <c16:uniqueId val="{00000007-E8EE-4329-89F6-BD625CE6A08A}"/>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E8EE-4329-89F6-BD625CE6A08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solidFill>
              <a:ln w="19050">
                <a:noFill/>
              </a:ln>
              <a:effectLst/>
            </c:spPr>
            <c:extLst>
              <c:ext xmlns:c16="http://schemas.microsoft.com/office/drawing/2014/chart" uri="{C3380CC4-5D6E-409C-BE32-E72D297353CC}">
                <c16:uniqueId val="{00000001-B039-4882-B53F-7D54DC816E33}"/>
              </c:ext>
            </c:extLst>
          </c:dPt>
          <c:dPt>
            <c:idx val="1"/>
            <c:bubble3D val="0"/>
            <c:spPr>
              <a:solidFill>
                <a:schemeClr val="accent1"/>
              </a:solidFill>
              <a:ln w="19050">
                <a:noFill/>
              </a:ln>
              <a:effectLst/>
            </c:spPr>
            <c:extLst>
              <c:ext xmlns:c16="http://schemas.microsoft.com/office/drawing/2014/chart" uri="{C3380CC4-5D6E-409C-BE32-E72D297353CC}">
                <c16:uniqueId val="{00000003-B039-4882-B53F-7D54DC816E33}"/>
              </c:ext>
            </c:extLst>
          </c:dPt>
          <c:dPt>
            <c:idx val="2"/>
            <c:bubble3D val="0"/>
            <c:spPr>
              <a:solidFill>
                <a:schemeClr val="accent1"/>
              </a:solidFill>
              <a:ln w="19050">
                <a:noFill/>
              </a:ln>
              <a:effectLst/>
            </c:spPr>
            <c:extLst>
              <c:ext xmlns:c16="http://schemas.microsoft.com/office/drawing/2014/chart" uri="{C3380CC4-5D6E-409C-BE32-E72D297353CC}">
                <c16:uniqueId val="{00000005-B039-4882-B53F-7D54DC816E33}"/>
              </c:ext>
            </c:extLst>
          </c:dPt>
          <c:dPt>
            <c:idx val="3"/>
            <c:bubble3D val="0"/>
            <c:spPr>
              <a:solidFill>
                <a:schemeClr val="accent1"/>
              </a:solidFill>
              <a:ln w="19050">
                <a:noFill/>
              </a:ln>
              <a:effectLst/>
            </c:spPr>
            <c:extLst>
              <c:ext xmlns:c16="http://schemas.microsoft.com/office/drawing/2014/chart" uri="{C3380CC4-5D6E-409C-BE32-E72D297353CC}">
                <c16:uniqueId val="{00000007-B039-4882-B53F-7D54DC816E33}"/>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B039-4882-B53F-7D54DC816E33}"/>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BEE-4C20-AC0D-26BEDCBA2FE1}"/>
              </c:ext>
            </c:extLst>
          </c:dPt>
          <c:dPt>
            <c:idx val="1"/>
            <c:bubble3D val="0"/>
            <c:spPr>
              <a:solidFill>
                <a:schemeClr val="tx1"/>
              </a:solidFill>
              <a:ln w="19050">
                <a:noFill/>
              </a:ln>
              <a:effectLst/>
            </c:spPr>
            <c:extLst>
              <c:ext xmlns:c16="http://schemas.microsoft.com/office/drawing/2014/chart" uri="{C3380CC4-5D6E-409C-BE32-E72D297353CC}">
                <c16:uniqueId val="{00000003-DBEE-4C20-AC0D-26BEDCBA2FE1}"/>
              </c:ext>
            </c:extLst>
          </c:dPt>
          <c:dPt>
            <c:idx val="2"/>
            <c:bubble3D val="0"/>
            <c:spPr>
              <a:solidFill>
                <a:schemeClr val="accent1"/>
              </a:solidFill>
              <a:ln w="19050">
                <a:noFill/>
              </a:ln>
              <a:effectLst/>
            </c:spPr>
            <c:extLst>
              <c:ext xmlns:c16="http://schemas.microsoft.com/office/drawing/2014/chart" uri="{C3380CC4-5D6E-409C-BE32-E72D297353CC}">
                <c16:uniqueId val="{00000005-DBEE-4C20-AC0D-26BEDCBA2FE1}"/>
              </c:ext>
            </c:extLst>
          </c:dPt>
          <c:dPt>
            <c:idx val="3"/>
            <c:bubble3D val="0"/>
            <c:spPr>
              <a:solidFill>
                <a:schemeClr val="accent1"/>
              </a:solidFill>
              <a:ln w="19050">
                <a:noFill/>
              </a:ln>
              <a:effectLst/>
            </c:spPr>
            <c:extLst>
              <c:ext xmlns:c16="http://schemas.microsoft.com/office/drawing/2014/chart" uri="{C3380CC4-5D6E-409C-BE32-E72D297353CC}">
                <c16:uniqueId val="{00000007-DBEE-4C20-AC0D-26BEDCBA2FE1}"/>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BEE-4C20-AC0D-26BEDCBA2FE1}"/>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01/06/2025</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01/06/2025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120291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B9573-ABA1-4280-60E7-E9617D7CE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4601D-20D9-87AF-725A-547D42834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339DE-21AE-3ABC-B83E-E1C43A41BFA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23224DD-D339-292C-381B-71567D812E15}"/>
              </a:ext>
            </a:extLst>
          </p:cNvPr>
          <p:cNvSpPr>
            <a:spLocks noGrp="1"/>
          </p:cNvSpPr>
          <p:nvPr>
            <p:ph type="sldNum" sz="quarter" idx="5"/>
          </p:nvPr>
        </p:nvSpPr>
        <p:spPr/>
        <p:txBody>
          <a:bodyPr/>
          <a:lstStyle/>
          <a:p>
            <a:pPr rtl="0"/>
            <a:fld id="{D4B9A9E5-4F7F-4A7D-9DE1-899232329269}" type="slidenum">
              <a:rPr lang="en-GB" smtClean="0"/>
              <a:t>4</a:t>
            </a:fld>
            <a:endParaRPr lang="en-GB"/>
          </a:p>
        </p:txBody>
      </p:sp>
    </p:spTree>
    <p:extLst>
      <p:ext uri="{BB962C8B-B14F-4D97-AF65-F5344CB8AC3E}">
        <p14:creationId xmlns:p14="http://schemas.microsoft.com/office/powerpoint/2010/main" val="3196575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5</a:t>
            </a:fld>
            <a:endParaRPr lang="en-GB"/>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2839078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2063318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8</a:t>
            </a:fld>
            <a:endParaRPr lang="en-GB"/>
          </a:p>
        </p:txBody>
      </p:sp>
    </p:spTree>
    <p:extLst>
      <p:ext uri="{BB962C8B-B14F-4D97-AF65-F5344CB8AC3E}">
        <p14:creationId xmlns:p14="http://schemas.microsoft.com/office/powerpoint/2010/main" val="72864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9</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10</a:t>
            </a:fld>
            <a:endParaRPr lang="en-GB"/>
          </a:p>
        </p:txBody>
      </p:sp>
    </p:spTree>
    <p:extLst>
      <p:ext uri="{BB962C8B-B14F-4D97-AF65-F5344CB8AC3E}">
        <p14:creationId xmlns:p14="http://schemas.microsoft.com/office/powerpoint/2010/main" val="2281875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790191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3682996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13</a:t>
            </a:fld>
            <a:endParaRPr lang="en-GB"/>
          </a:p>
        </p:txBody>
      </p:sp>
    </p:spTree>
    <p:extLst>
      <p:ext uri="{BB962C8B-B14F-4D97-AF65-F5344CB8AC3E}">
        <p14:creationId xmlns:p14="http://schemas.microsoft.com/office/powerpoint/2010/main" val="2985935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14</a:t>
            </a:fld>
            <a:endParaRPr lang="en-GB"/>
          </a:p>
        </p:txBody>
      </p:sp>
    </p:spTree>
    <p:extLst>
      <p:ext uri="{BB962C8B-B14F-4D97-AF65-F5344CB8AC3E}">
        <p14:creationId xmlns:p14="http://schemas.microsoft.com/office/powerpoint/2010/main" val="1545415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15</a:t>
            </a:fld>
            <a:endParaRPr lang="en-GB"/>
          </a:p>
        </p:txBody>
      </p:sp>
    </p:spTree>
    <p:extLst>
      <p:ext uri="{BB962C8B-B14F-4D97-AF65-F5344CB8AC3E}">
        <p14:creationId xmlns:p14="http://schemas.microsoft.com/office/powerpoint/2010/main" val="7018879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16</a:t>
            </a:fld>
            <a:endParaRPr lang="en-GB"/>
          </a:p>
        </p:txBody>
      </p:sp>
    </p:spTree>
    <p:extLst>
      <p:ext uri="{BB962C8B-B14F-4D97-AF65-F5344CB8AC3E}">
        <p14:creationId xmlns:p14="http://schemas.microsoft.com/office/powerpoint/2010/main" val="3696177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17</a:t>
            </a:fld>
            <a:endParaRPr lang="en-GB"/>
          </a:p>
        </p:txBody>
      </p:sp>
    </p:spTree>
    <p:extLst>
      <p:ext uri="{BB962C8B-B14F-4D97-AF65-F5344CB8AC3E}">
        <p14:creationId xmlns:p14="http://schemas.microsoft.com/office/powerpoint/2010/main" val="1679121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18</a:t>
            </a:fld>
            <a:endParaRPr lang="en-GB"/>
          </a:p>
        </p:txBody>
      </p:sp>
    </p:spTree>
    <p:extLst>
      <p:ext uri="{BB962C8B-B14F-4D97-AF65-F5344CB8AC3E}">
        <p14:creationId xmlns:p14="http://schemas.microsoft.com/office/powerpoint/2010/main" val="1361692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19</a:t>
            </a:fld>
            <a:endParaRPr lang="en-GB"/>
          </a:p>
        </p:txBody>
      </p:sp>
    </p:spTree>
    <p:extLst>
      <p:ext uri="{BB962C8B-B14F-4D97-AF65-F5344CB8AC3E}">
        <p14:creationId xmlns:p14="http://schemas.microsoft.com/office/powerpoint/2010/main" val="3387435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20</a:t>
            </a:fld>
            <a:endParaRPr lang="en-GB"/>
          </a:p>
        </p:txBody>
      </p:sp>
    </p:spTree>
    <p:extLst>
      <p:ext uri="{BB962C8B-B14F-4D97-AF65-F5344CB8AC3E}">
        <p14:creationId xmlns:p14="http://schemas.microsoft.com/office/powerpoint/2010/main" val="3706364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21</a:t>
            </a:fld>
            <a:endParaRPr lang="en-GB"/>
          </a:p>
        </p:txBody>
      </p:sp>
    </p:spTree>
    <p:extLst>
      <p:ext uri="{BB962C8B-B14F-4D97-AF65-F5344CB8AC3E}">
        <p14:creationId xmlns:p14="http://schemas.microsoft.com/office/powerpoint/2010/main" val="3772094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22</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rtlCol="0">
            <a:normAutofit/>
          </a:bodyPr>
          <a:lstStyle>
            <a:lvl1pPr algn="l">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rtlCol="0" anchor="ctr">
            <a:normAutofit/>
          </a:bodyPr>
          <a:lstStyle>
            <a:lvl1pPr marL="0" indent="0" algn="ctr">
              <a:lnSpc>
                <a:spcPct val="100000"/>
              </a:lnSpc>
              <a:buNone/>
              <a:defRPr sz="1400" cap="all" spc="0" baseline="0">
                <a:solidFill>
                  <a:schemeClr val="tx1"/>
                </a:solidFill>
                <a:latin typeface="+mj-lt"/>
              </a:defRPr>
            </a:lvl1pPr>
          </a:lstStyle>
          <a:p>
            <a:pPr lvl="0" rtl="0"/>
            <a:r>
              <a:rPr lang="en-GB" noProof="0"/>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rtlCol="0" anchor="ctr">
            <a:noAutofit/>
          </a:bodyPr>
          <a:lstStyle>
            <a:lvl1pPr marL="0" indent="0" algn="ctr">
              <a:lnSpc>
                <a:spcPct val="100000"/>
              </a:lnSpc>
              <a:buNone/>
              <a:defRPr sz="1050" cap="none" spc="0" baseline="0">
                <a:solidFill>
                  <a:schemeClr val="tx1"/>
                </a:solidFill>
                <a:latin typeface="+mn-lt"/>
              </a:defRPr>
            </a:lvl1pPr>
          </a:lstStyle>
          <a:p>
            <a:pPr lvl="0" rtl="0"/>
            <a:r>
              <a:rPr lang="en-GB" noProof="0"/>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rtlCol="0" anchor="ctr">
            <a:noAutofit/>
          </a:bodyPr>
          <a:lstStyle>
            <a:lvl1pPr marL="0" indent="0" algn="ctr">
              <a:lnSpc>
                <a:spcPct val="100000"/>
              </a:lnSpc>
              <a:buNone/>
              <a:defRPr sz="1400" b="1" cap="all" spc="0" baseline="0">
                <a:solidFill>
                  <a:schemeClr val="tx1"/>
                </a:solidFill>
                <a:latin typeface="+mn-lt"/>
              </a:defRPr>
            </a:lvl1pPr>
          </a:lstStyle>
          <a:p>
            <a:pPr lvl="0" rtl="0"/>
            <a:r>
              <a:rPr lang="en-GB" noProof="0"/>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rtlCol="0" anchor="ctr">
            <a:noAutofit/>
          </a:bodyPr>
          <a:lstStyle>
            <a:lvl1pPr marL="0" indent="0" algn="ctr">
              <a:lnSpc>
                <a:spcPct val="100000"/>
              </a:lnSpc>
              <a:buNone/>
              <a:defRPr sz="1400" cap="all" spc="0" baseline="0">
                <a:solidFill>
                  <a:schemeClr val="tx1"/>
                </a:solidFill>
                <a:latin typeface="+mj-lt"/>
              </a:defRPr>
            </a:lvl1pPr>
          </a:lstStyle>
          <a:p>
            <a:pPr lvl="0" rtl="0"/>
            <a:r>
              <a:rPr lang="en-GB" noProof="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rtlCol="0" anchor="ctr">
            <a:noAutofit/>
          </a:bodyPr>
          <a:lstStyle>
            <a:lvl1pPr marL="0" indent="0" algn="ctr">
              <a:lnSpc>
                <a:spcPct val="100000"/>
              </a:lnSpc>
              <a:buNone/>
              <a:defRPr sz="1400" cap="all" spc="0" baseline="0">
                <a:solidFill>
                  <a:schemeClr val="tx1"/>
                </a:solidFill>
                <a:latin typeface="+mj-lt"/>
              </a:defRPr>
            </a:lvl1pPr>
          </a:lstStyle>
          <a:p>
            <a:pPr lvl="0" rtl="0"/>
            <a:r>
              <a:rPr lang="en-GB" noProof="0"/>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rtlCol="0" anchor="ctr">
            <a:noAutofit/>
          </a:bodyPr>
          <a:lstStyle>
            <a:lvl1pPr marL="0" indent="0" algn="ctr">
              <a:lnSpc>
                <a:spcPct val="100000"/>
              </a:lnSpc>
              <a:buNone/>
              <a:defRPr sz="1050" cap="none" spc="0" baseline="0">
                <a:solidFill>
                  <a:schemeClr val="tx1"/>
                </a:solidFill>
                <a:latin typeface="+mn-lt"/>
              </a:defRPr>
            </a:lvl1pPr>
          </a:lstStyle>
          <a:p>
            <a:pPr lvl="0" rtl="0"/>
            <a:r>
              <a:rPr lang="en-GB" noProof="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rtlCol="0" anchor="ctr">
            <a:noAutofit/>
          </a:bodyPr>
          <a:lstStyle>
            <a:lvl1pPr marL="0" indent="0" algn="ctr">
              <a:lnSpc>
                <a:spcPct val="100000"/>
              </a:lnSpc>
              <a:buNone/>
              <a:defRPr sz="1050" cap="none" spc="0" baseline="0">
                <a:solidFill>
                  <a:schemeClr val="tx1"/>
                </a:solidFill>
                <a:latin typeface="+mn-lt"/>
              </a:defRPr>
            </a:lvl1pPr>
          </a:lstStyle>
          <a:p>
            <a:pPr lvl="0" rtl="0"/>
            <a:r>
              <a:rPr lang="en-GB" noProof="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rtlCol="0" anchor="ctr">
            <a:noAutofit/>
          </a:bodyPr>
          <a:lstStyle>
            <a:lvl1pPr marL="0" indent="0" algn="ctr">
              <a:lnSpc>
                <a:spcPct val="100000"/>
              </a:lnSpc>
              <a:buNone/>
              <a:defRPr sz="1050" cap="none" spc="0" baseline="0">
                <a:solidFill>
                  <a:schemeClr val="tx1"/>
                </a:solidFill>
                <a:latin typeface="+mn-lt"/>
              </a:defRPr>
            </a:lvl1pPr>
          </a:lstStyle>
          <a:p>
            <a:pPr lvl="0" rtl="0"/>
            <a:r>
              <a:rPr lang="en-GB" noProof="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rtlCol="0" anchor="ctr">
            <a:normAutofit/>
          </a:bodyPr>
          <a:lstStyle>
            <a:lvl1pPr marL="0" indent="0" algn="ctr">
              <a:lnSpc>
                <a:spcPct val="100000"/>
              </a:lnSpc>
              <a:buNone/>
              <a:defRPr sz="1400" cap="all" spc="0" baseline="0">
                <a:solidFill>
                  <a:schemeClr val="tx1"/>
                </a:solidFill>
                <a:latin typeface="+mj-lt"/>
              </a:defRPr>
            </a:lvl1pPr>
          </a:lstStyle>
          <a:p>
            <a:pPr lvl="0" rtl="0"/>
            <a:r>
              <a:rPr lang="en-GB" noProof="0"/>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rtlCol="0" anchor="ctr">
            <a:noAutofit/>
          </a:bodyPr>
          <a:lstStyle>
            <a:lvl1pPr marL="0" indent="0" algn="ctr">
              <a:lnSpc>
                <a:spcPct val="100000"/>
              </a:lnSpc>
              <a:buNone/>
              <a:defRPr sz="1050" cap="none" spc="0" baseline="0">
                <a:solidFill>
                  <a:schemeClr val="tx1"/>
                </a:solidFill>
                <a:latin typeface="+mn-lt"/>
              </a:defRPr>
            </a:lvl1pPr>
          </a:lstStyle>
          <a:p>
            <a:pPr lvl="0" rtl="0"/>
            <a:r>
              <a:rPr lang="en-GB" noProof="0"/>
              <a:t>Click to add name</a:t>
            </a:r>
          </a:p>
        </p:txBody>
      </p: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679"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19.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jpg"/><Relationship Id="rId7" Type="http://schemas.openxmlformats.org/officeDocument/2006/relationships/image" Target="../media/image39.jpg"/><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38.jpg"/><Relationship Id="rId5" Type="http://schemas.openxmlformats.org/officeDocument/2006/relationships/image" Target="../media/image37.jpg"/><Relationship Id="rId10" Type="http://schemas.openxmlformats.org/officeDocument/2006/relationships/image" Target="../media/image42.jpg"/><Relationship Id="rId4" Type="http://schemas.openxmlformats.org/officeDocument/2006/relationships/image" Target="../media/image36.jpg"/><Relationship Id="rId9" Type="http://schemas.openxmlformats.org/officeDocument/2006/relationships/image" Target="../media/image41.jpg"/></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9.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n-GB" dirty="0"/>
              <a:t>Quatrefoil</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lstStyle/>
          <a:p>
            <a:pPr rtl="0"/>
            <a:r>
              <a:rPr lang="en-GB" dirty="0"/>
              <a:t>Corey Medland (P2716681)</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rtlCol="0"/>
          <a:lstStyle/>
          <a:p>
            <a:pPr rtl="0"/>
            <a:r>
              <a:rPr lang="en-GB" dirty="0"/>
              <a:t>What is a code first game engine?</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rtlCol="0">
            <a:normAutofit/>
          </a:bodyPr>
          <a:lstStyle/>
          <a:p>
            <a:pPr marL="285750" indent="-285750" rtl="0">
              <a:buFontTx/>
              <a:buChar char="-"/>
            </a:pPr>
            <a:r>
              <a:rPr lang="en-US" dirty="0"/>
              <a:t>Game engine that prioritizes coding as the primary method of interacting with and customizing the engine.</a:t>
            </a:r>
          </a:p>
          <a:p>
            <a:pPr marL="285750" indent="-285750" rtl="0">
              <a:buFontTx/>
              <a:buChar char="-"/>
            </a:pPr>
            <a:r>
              <a:rPr lang="en-US" dirty="0"/>
              <a:t>Contrary to traditional game engines.</a:t>
            </a:r>
          </a:p>
        </p:txBody>
      </p:sp>
      <p:pic>
        <p:nvPicPr>
          <p:cNvPr id="8" name="Picture 7" descr="A group of people in a pool&#10;&#10;AI-generated content may be incorrect.">
            <a:extLst>
              <a:ext uri="{FF2B5EF4-FFF2-40B4-BE49-F238E27FC236}">
                <a16:creationId xmlns:a16="http://schemas.microsoft.com/office/drawing/2014/main" id="{C69823D0-334C-CF76-66F4-D95089F636A3}"/>
              </a:ext>
            </a:extLst>
          </p:cNvPr>
          <p:cNvPicPr>
            <a:picLocks noChangeAspect="1"/>
          </p:cNvPicPr>
          <p:nvPr/>
        </p:nvPicPr>
        <p:blipFill>
          <a:blip r:embed="rId3"/>
          <a:stretch>
            <a:fillRect/>
          </a:stretch>
        </p:blipFill>
        <p:spPr>
          <a:xfrm>
            <a:off x="7253133" y="487549"/>
            <a:ext cx="4270273" cy="2391353"/>
          </a:xfrm>
          <a:prstGeom prst="rect">
            <a:avLst/>
          </a:prstGeom>
        </p:spPr>
      </p:pic>
      <p:pic>
        <p:nvPicPr>
          <p:cNvPr id="10" name="Picture 9" descr="A video game screen with an object and a planet&#10;&#10;AI-generated content may be incorrect.">
            <a:extLst>
              <a:ext uri="{FF2B5EF4-FFF2-40B4-BE49-F238E27FC236}">
                <a16:creationId xmlns:a16="http://schemas.microsoft.com/office/drawing/2014/main" id="{2C1524FC-8837-E476-7DE2-54098F19E32B}"/>
              </a:ext>
            </a:extLst>
          </p:cNvPr>
          <p:cNvPicPr>
            <a:picLocks noChangeAspect="1"/>
          </p:cNvPicPr>
          <p:nvPr/>
        </p:nvPicPr>
        <p:blipFill>
          <a:blip r:embed="rId4"/>
          <a:stretch>
            <a:fillRect/>
          </a:stretch>
        </p:blipFill>
        <p:spPr>
          <a:xfrm>
            <a:off x="7253132" y="3596497"/>
            <a:ext cx="4270273" cy="2402029"/>
          </a:xfrm>
          <a:prstGeom prst="rect">
            <a:avLst/>
          </a:prstGeom>
        </p:spPr>
      </p:pic>
      <p:pic>
        <p:nvPicPr>
          <p:cNvPr id="12" name="Picture 11" descr="A computer screen shot of a table and chairs&#10;&#10;AI-generated content may be incorrect.">
            <a:extLst>
              <a:ext uri="{FF2B5EF4-FFF2-40B4-BE49-F238E27FC236}">
                <a16:creationId xmlns:a16="http://schemas.microsoft.com/office/drawing/2014/main" id="{8AD62E67-2EF3-CE4B-AE61-E6C2B9531E27}"/>
              </a:ext>
            </a:extLst>
          </p:cNvPr>
          <p:cNvPicPr>
            <a:picLocks noChangeAspect="1"/>
          </p:cNvPicPr>
          <p:nvPr/>
        </p:nvPicPr>
        <p:blipFill>
          <a:blip r:embed="rId5"/>
          <a:stretch>
            <a:fillRect/>
          </a:stretch>
        </p:blipFill>
        <p:spPr>
          <a:xfrm>
            <a:off x="7253132" y="487549"/>
            <a:ext cx="4245932" cy="2436626"/>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E4ED9516-B0F6-D002-6E8F-71D30391E289}"/>
              </a:ext>
            </a:extLst>
          </p:cNvPr>
          <p:cNvPicPr>
            <a:picLocks noChangeAspect="1"/>
          </p:cNvPicPr>
          <p:nvPr/>
        </p:nvPicPr>
        <p:blipFill>
          <a:blip r:embed="rId6"/>
          <a:stretch>
            <a:fillRect/>
          </a:stretch>
        </p:blipFill>
        <p:spPr>
          <a:xfrm>
            <a:off x="7222046" y="3596497"/>
            <a:ext cx="4357990" cy="2436626"/>
          </a:xfrm>
          <a:prstGeom prst="rect">
            <a:avLst/>
          </a:prstGeom>
        </p:spPr>
      </p:pic>
    </p:spTree>
    <p:extLst>
      <p:ext uri="{BB962C8B-B14F-4D97-AF65-F5344CB8AC3E}">
        <p14:creationId xmlns:p14="http://schemas.microsoft.com/office/powerpoint/2010/main" val="224349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53B69-C7DC-D238-E8A4-DD830F947E96}"/>
              </a:ext>
            </a:extLst>
          </p:cNvPr>
          <p:cNvSpPr>
            <a:spLocks noGrp="1"/>
          </p:cNvSpPr>
          <p:nvPr>
            <p:ph type="title"/>
          </p:nvPr>
        </p:nvSpPr>
        <p:spPr/>
        <p:txBody>
          <a:bodyPr/>
          <a:lstStyle/>
          <a:p>
            <a:r>
              <a:rPr lang="en-US" dirty="0"/>
              <a:t>Why make a code first engine?</a:t>
            </a:r>
            <a:br>
              <a:rPr lang="en-US" dirty="0"/>
            </a:br>
            <a:r>
              <a:rPr lang="en-US" dirty="0"/>
              <a:t>- 3 reasons</a:t>
            </a:r>
            <a:endParaRPr lang="en-GB" dirty="0"/>
          </a:p>
        </p:txBody>
      </p:sp>
      <p:sp>
        <p:nvSpPr>
          <p:cNvPr id="3" name="Text Placeholder 2">
            <a:extLst>
              <a:ext uri="{FF2B5EF4-FFF2-40B4-BE49-F238E27FC236}">
                <a16:creationId xmlns:a16="http://schemas.microsoft.com/office/drawing/2014/main" id="{DE5D6870-E0A2-BC11-866A-B923AA39F5F9}"/>
              </a:ext>
            </a:extLst>
          </p:cNvPr>
          <p:cNvSpPr>
            <a:spLocks noGrp="1"/>
          </p:cNvSpPr>
          <p:nvPr>
            <p:ph type="body" idx="1"/>
          </p:nvPr>
        </p:nvSpPr>
        <p:spPr>
          <a:xfrm>
            <a:off x="1639349" y="2439300"/>
            <a:ext cx="2276510" cy="2074541"/>
          </a:xfrm>
        </p:spPr>
        <p:txBody>
          <a:bodyPr/>
          <a:lstStyle/>
          <a:p>
            <a:r>
              <a:rPr lang="en-US" sz="2000" dirty="0"/>
              <a:t>Maximum control</a:t>
            </a:r>
            <a:endParaRPr lang="en-GB" dirty="0"/>
          </a:p>
        </p:txBody>
      </p:sp>
      <p:sp>
        <p:nvSpPr>
          <p:cNvPr id="7" name="Content Placeholder 6">
            <a:extLst>
              <a:ext uri="{FF2B5EF4-FFF2-40B4-BE49-F238E27FC236}">
                <a16:creationId xmlns:a16="http://schemas.microsoft.com/office/drawing/2014/main" id="{D324F180-4ACE-8090-7BB1-BC5EDA82DF43}"/>
              </a:ext>
            </a:extLst>
          </p:cNvPr>
          <p:cNvSpPr>
            <a:spLocks noGrp="1"/>
          </p:cNvSpPr>
          <p:nvPr>
            <p:ph sz="half" idx="17"/>
          </p:nvPr>
        </p:nvSpPr>
        <p:spPr>
          <a:xfrm>
            <a:off x="1129698" y="4735401"/>
            <a:ext cx="3124093" cy="1008289"/>
          </a:xfrm>
        </p:spPr>
        <p:txBody>
          <a:bodyPr>
            <a:normAutofit fontScale="92500" lnSpcReduction="10000"/>
          </a:bodyPr>
          <a:lstStyle/>
          <a:p>
            <a:r>
              <a:rPr lang="en-US" dirty="0"/>
              <a:t>Having everything manipulatable in code, there are no limits to what can be added or changed. If the user wants to add something highly specific, it can be done.</a:t>
            </a:r>
            <a:endParaRPr lang="en-GB" dirty="0"/>
          </a:p>
        </p:txBody>
      </p:sp>
      <p:sp>
        <p:nvSpPr>
          <p:cNvPr id="9" name="Content Placeholder 8">
            <a:extLst>
              <a:ext uri="{FF2B5EF4-FFF2-40B4-BE49-F238E27FC236}">
                <a16:creationId xmlns:a16="http://schemas.microsoft.com/office/drawing/2014/main" id="{24D80339-366D-2A07-812A-871A510104ED}"/>
              </a:ext>
            </a:extLst>
          </p:cNvPr>
          <p:cNvSpPr>
            <a:spLocks noGrp="1"/>
          </p:cNvSpPr>
          <p:nvPr>
            <p:ph sz="quarter" idx="18"/>
          </p:nvPr>
        </p:nvSpPr>
        <p:spPr>
          <a:xfrm>
            <a:off x="4526261" y="4735401"/>
            <a:ext cx="3139479" cy="1008289"/>
          </a:xfrm>
        </p:spPr>
        <p:txBody>
          <a:bodyPr/>
          <a:lstStyle/>
          <a:p>
            <a:r>
              <a:rPr lang="en-US" dirty="0"/>
              <a:t>Making a code first engine truly allowed me to understand how and game engine is ran behind the scenes.</a:t>
            </a:r>
            <a:endParaRPr lang="en-GB" dirty="0"/>
          </a:p>
        </p:txBody>
      </p:sp>
      <p:sp>
        <p:nvSpPr>
          <p:cNvPr id="11" name="Content Placeholder 10">
            <a:extLst>
              <a:ext uri="{FF2B5EF4-FFF2-40B4-BE49-F238E27FC236}">
                <a16:creationId xmlns:a16="http://schemas.microsoft.com/office/drawing/2014/main" id="{E4EA6198-FB20-5587-0460-1391547D844F}"/>
              </a:ext>
            </a:extLst>
          </p:cNvPr>
          <p:cNvSpPr>
            <a:spLocks noGrp="1"/>
          </p:cNvSpPr>
          <p:nvPr>
            <p:ph sz="half" idx="19"/>
          </p:nvPr>
        </p:nvSpPr>
        <p:spPr>
          <a:xfrm>
            <a:off x="7938210" y="4735401"/>
            <a:ext cx="3124093" cy="1008289"/>
          </a:xfrm>
        </p:spPr>
        <p:txBody>
          <a:bodyPr/>
          <a:lstStyle/>
          <a:p>
            <a:r>
              <a:rPr lang="en-US" dirty="0"/>
              <a:t>Being driven purely by code and no fancy GUI, this does mean that it is viable for </a:t>
            </a:r>
            <a:r>
              <a:rPr lang="en-US" u="sng" dirty="0"/>
              <a:t>any</a:t>
            </a:r>
            <a:r>
              <a:rPr lang="en-US" dirty="0"/>
              <a:t> project, whether it is 2D, 3D, shader driven, or more!</a:t>
            </a:r>
            <a:endParaRPr lang="en-GB" dirty="0"/>
          </a:p>
        </p:txBody>
      </p:sp>
      <p:sp>
        <p:nvSpPr>
          <p:cNvPr id="15" name="Text Placeholder 2">
            <a:extLst>
              <a:ext uri="{FF2B5EF4-FFF2-40B4-BE49-F238E27FC236}">
                <a16:creationId xmlns:a16="http://schemas.microsoft.com/office/drawing/2014/main" id="{17656A9C-9287-755C-4CF7-A04EB59147E9}"/>
              </a:ext>
            </a:extLst>
          </p:cNvPr>
          <p:cNvSpPr txBox="1">
            <a:spLocks/>
          </p:cNvSpPr>
          <p:nvPr/>
        </p:nvSpPr>
        <p:spPr>
          <a:xfrm>
            <a:off x="4957745" y="2403591"/>
            <a:ext cx="2276510" cy="207454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4000" kern="1200" cap="all" spc="150" baseline="0" dirty="0" smtClean="0">
                <a:solidFill>
                  <a:schemeClr val="bg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sz="2000" dirty="0"/>
              <a:t>Learning</a:t>
            </a:r>
            <a:endParaRPr lang="en-GB" dirty="0"/>
          </a:p>
        </p:txBody>
      </p:sp>
      <p:sp>
        <p:nvSpPr>
          <p:cNvPr id="16" name="Text Placeholder 2">
            <a:extLst>
              <a:ext uri="{FF2B5EF4-FFF2-40B4-BE49-F238E27FC236}">
                <a16:creationId xmlns:a16="http://schemas.microsoft.com/office/drawing/2014/main" id="{6D741468-59AE-6A0B-2289-206C3D5F85B5}"/>
              </a:ext>
            </a:extLst>
          </p:cNvPr>
          <p:cNvSpPr txBox="1">
            <a:spLocks/>
          </p:cNvSpPr>
          <p:nvPr/>
        </p:nvSpPr>
        <p:spPr>
          <a:xfrm>
            <a:off x="8362001" y="2481634"/>
            <a:ext cx="2276510" cy="207454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4000" kern="1200" cap="all" spc="150" baseline="0" dirty="0" smtClean="0">
                <a:solidFill>
                  <a:schemeClr val="bg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sz="2000" dirty="0"/>
              <a:t>Flexibility</a:t>
            </a:r>
            <a:endParaRPr lang="en-GB" dirty="0"/>
          </a:p>
        </p:txBody>
      </p:sp>
    </p:spTree>
    <p:extLst>
      <p:ext uri="{BB962C8B-B14F-4D97-AF65-F5344CB8AC3E}">
        <p14:creationId xmlns:p14="http://schemas.microsoft.com/office/powerpoint/2010/main" val="714337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BD453-E1F4-CB83-D84C-0F958E2E7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B1319-B93A-29EC-E383-8DBD872BFFA8}"/>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rtlCol="0"/>
          <a:lstStyle/>
          <a:p>
            <a:pPr rtl="0"/>
            <a:r>
              <a:rPr lang="en-GB" dirty="0"/>
              <a:t>What is </a:t>
            </a:r>
            <a:r>
              <a:rPr lang="en-GB" dirty="0" err="1"/>
              <a:t>Opengl</a:t>
            </a:r>
            <a:r>
              <a:rPr lang="en-GB" dirty="0"/>
              <a:t>?</a:t>
            </a:r>
          </a:p>
        </p:txBody>
      </p:sp>
      <p:sp>
        <p:nvSpPr>
          <p:cNvPr id="3" name="Subtitle 2">
            <a:extLst>
              <a:ext uri="{FF2B5EF4-FFF2-40B4-BE49-F238E27FC236}">
                <a16:creationId xmlns:a16="http://schemas.microsoft.com/office/drawing/2014/main" id="{E6830A44-AB52-7FAF-2B5A-3D2CBF5510DA}"/>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rtlCol="0">
            <a:normAutofit/>
          </a:bodyPr>
          <a:lstStyle/>
          <a:p>
            <a:pPr marL="285750" indent="-285750" rtl="0">
              <a:buFontTx/>
              <a:buChar char="-"/>
            </a:pPr>
            <a:r>
              <a:rPr lang="en-US" dirty="0"/>
              <a:t>An API for rendering 3D and 2D graphics.</a:t>
            </a:r>
          </a:p>
          <a:p>
            <a:pPr marL="285750" indent="-285750" rtl="0">
              <a:buFontTx/>
              <a:buChar char="-"/>
            </a:pPr>
            <a:endParaRPr lang="en-US" dirty="0"/>
          </a:p>
          <a:p>
            <a:pPr marL="285750" indent="-285750" rtl="0">
              <a:buFontTx/>
              <a:buChar char="-"/>
            </a:pPr>
            <a:r>
              <a:rPr lang="en-US" dirty="0"/>
              <a:t>Allow the use of a GPU to accelerate graphic rendering.</a:t>
            </a:r>
          </a:p>
        </p:txBody>
      </p:sp>
      <p:sp>
        <p:nvSpPr>
          <p:cNvPr id="6" name="Rectangle 5">
            <a:extLst>
              <a:ext uri="{FF2B5EF4-FFF2-40B4-BE49-F238E27FC236}">
                <a16:creationId xmlns:a16="http://schemas.microsoft.com/office/drawing/2014/main" id="{B15005DF-644E-8FEA-D70A-2DECD89CBB97}"/>
              </a:ext>
            </a:extLst>
          </p:cNvPr>
          <p:cNvSpPr/>
          <p:nvPr/>
        </p:nvSpPr>
        <p:spPr>
          <a:xfrm>
            <a:off x="6853084" y="2346008"/>
            <a:ext cx="5181600" cy="2235824"/>
          </a:xfrm>
          <a:prstGeom prst="rect">
            <a:avLst/>
          </a:prstGeom>
          <a:solidFill>
            <a:schemeClr val="tx1">
              <a:alpha val="72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 name="Picture 4" descr="A blue and white logo&#10;&#10;AI-generated content may be incorrect.">
            <a:extLst>
              <a:ext uri="{FF2B5EF4-FFF2-40B4-BE49-F238E27FC236}">
                <a16:creationId xmlns:a16="http://schemas.microsoft.com/office/drawing/2014/main" id="{6E2F15D3-2C65-49C7-51F4-8A0E5823D152}"/>
              </a:ext>
            </a:extLst>
          </p:cNvPr>
          <p:cNvPicPr>
            <a:picLocks noChangeAspect="1"/>
          </p:cNvPicPr>
          <p:nvPr/>
        </p:nvPicPr>
        <p:blipFill>
          <a:blip r:embed="rId3"/>
          <a:stretch>
            <a:fillRect/>
          </a:stretch>
        </p:blipFill>
        <p:spPr>
          <a:xfrm>
            <a:off x="6940559" y="2310360"/>
            <a:ext cx="5162951" cy="2237279"/>
          </a:xfrm>
          <a:prstGeom prst="rect">
            <a:avLst/>
          </a:prstGeom>
        </p:spPr>
      </p:pic>
    </p:spTree>
    <p:extLst>
      <p:ext uri="{BB962C8B-B14F-4D97-AF65-F5344CB8AC3E}">
        <p14:creationId xmlns:p14="http://schemas.microsoft.com/office/powerpoint/2010/main" val="3198946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rtlCol="0"/>
          <a:lstStyle/>
          <a:p>
            <a:pPr rtl="0"/>
            <a:r>
              <a:rPr lang="en-GB" dirty="0"/>
              <a:t>Features of quatrefoil</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rmAutofit fontScale="92500"/>
          </a:bodyPr>
          <a:lstStyle/>
          <a:p>
            <a:pPr rtl="0"/>
            <a:r>
              <a:rPr lang="en-US" dirty="0"/>
              <a:t>ECS (entity component system)</a:t>
            </a:r>
            <a:endParaRPr lang="en-GB"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485664" y="3070348"/>
            <a:ext cx="4031030" cy="1057308"/>
          </a:xfrm>
        </p:spPr>
        <p:txBody>
          <a:bodyPr rtlCol="0"/>
          <a:lstStyle/>
          <a:p>
            <a:pPr rtl="0"/>
            <a:r>
              <a:rPr lang="en-GB" dirty="0"/>
              <a:t>The whole engine is built around an ECS. This allows for easy access to all entities and more flexibility with code. Limits the potentiality of having hundreds of classes.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65125"/>
          </a:xfrm>
        </p:spPr>
        <p:txBody>
          <a:bodyPr rtlCol="0">
            <a:normAutofit lnSpcReduction="10000"/>
          </a:bodyPr>
          <a:lstStyle/>
          <a:p>
            <a:pPr rtl="0"/>
            <a:r>
              <a:rPr lang="en-GB" dirty="0"/>
              <a:t>Shader Support</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673143" y="3070348"/>
            <a:ext cx="4031030" cy="1057308"/>
          </a:xfrm>
        </p:spPr>
        <p:txBody>
          <a:bodyPr rtlCol="0"/>
          <a:lstStyle/>
          <a:p>
            <a:pPr rtl="0"/>
            <a:r>
              <a:rPr lang="en-US" dirty="0"/>
              <a:t>Utilizes shaders to allow the GPU to be used. This helps performance greatly, and can also allow for post processing.</a:t>
            </a:r>
            <a:endParaRPr lang="en-GB" dirty="0"/>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5899" y="4319431"/>
            <a:ext cx="4031945" cy="365125"/>
          </a:xfrm>
        </p:spPr>
        <p:txBody>
          <a:bodyPr rtlCol="0">
            <a:normAutofit lnSpcReduction="10000"/>
          </a:bodyPr>
          <a:lstStyle/>
          <a:p>
            <a:pPr rtl="0"/>
            <a:r>
              <a:rPr lang="en-GB" dirty="0"/>
              <a:t>Texture loading</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486412" y="4826656"/>
            <a:ext cx="4031030" cy="1057308"/>
          </a:xfrm>
        </p:spPr>
        <p:txBody>
          <a:bodyPr rtlCol="0"/>
          <a:lstStyle/>
          <a:p>
            <a:pPr rtl="0"/>
            <a:r>
              <a:rPr lang="en-GB" dirty="0"/>
              <a:t>Using </a:t>
            </a:r>
            <a:r>
              <a:rPr lang="en-GB" dirty="0" err="1"/>
              <a:t>stb_image.h</a:t>
            </a:r>
            <a:r>
              <a:rPr lang="en-GB" dirty="0"/>
              <a:t>, a popular image loading header file, textures can be used and loaded In game. </a:t>
            </a:r>
          </a:p>
          <a:p>
            <a:pPr rtl="0"/>
            <a:endParaRPr lang="en-GB"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672630" y="4319431"/>
            <a:ext cx="4031945" cy="365125"/>
          </a:xfrm>
        </p:spPr>
        <p:txBody>
          <a:bodyPr rtlCol="0">
            <a:normAutofit lnSpcReduction="10000"/>
          </a:bodyPr>
          <a:lstStyle/>
          <a:p>
            <a:pPr rtl="0"/>
            <a:r>
              <a:rPr lang="en-GB" dirty="0"/>
              <a:t>GUI support</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673143" y="4826656"/>
            <a:ext cx="4031030" cy="1057308"/>
          </a:xfrm>
        </p:spPr>
        <p:txBody>
          <a:bodyPr rtlCol="0">
            <a:normAutofit lnSpcReduction="10000"/>
          </a:bodyPr>
          <a:lstStyle/>
          <a:p>
            <a:pPr rtl="0"/>
            <a:r>
              <a:rPr lang="en-GB" dirty="0"/>
              <a:t>While still being a code first engine, having debug </a:t>
            </a:r>
            <a:r>
              <a:rPr lang="en-GB" dirty="0" err="1"/>
              <a:t>ui</a:t>
            </a:r>
            <a:r>
              <a:rPr lang="en-GB" dirty="0"/>
              <a:t> is massively helpful. Using dear ImGui, debugging tools can be used during runtime to edit member variables  , and access vital information that can only be tested at runtime.</a:t>
            </a:r>
          </a:p>
        </p:txBody>
      </p:sp>
    </p:spTree>
    <p:extLst>
      <p:ext uri="{BB962C8B-B14F-4D97-AF65-F5344CB8AC3E}">
        <p14:creationId xmlns:p14="http://schemas.microsoft.com/office/powerpoint/2010/main" val="159392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2354334" y="2354317"/>
            <a:ext cx="3139440" cy="1325563"/>
          </a:xfrm>
        </p:spPr>
        <p:txBody>
          <a:bodyPr rtlCol="0"/>
          <a:lstStyle/>
          <a:p>
            <a:pPr rtl="0"/>
            <a:r>
              <a:rPr lang="en-US" dirty="0"/>
              <a:t>Engine structure.</a:t>
            </a:r>
            <a:endParaRPr lang="en-GB" dirty="0"/>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pPr rtl="0"/>
            <a:r>
              <a:rPr lang="en-GB" dirty="0"/>
              <a:t>Engine Core.</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921828" y="1860060"/>
            <a:ext cx="5431971" cy="557950"/>
          </a:xfrm>
        </p:spPr>
        <p:txBody>
          <a:bodyPr rtlCol="0">
            <a:normAutofit/>
          </a:bodyPr>
          <a:lstStyle/>
          <a:p>
            <a:pPr rtl="0"/>
            <a:r>
              <a:rPr lang="en-GB" dirty="0"/>
              <a:t>This is what handles the main loop of the project and also loads all necessary packages.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rtlCol="0">
            <a:normAutofit lnSpcReduction="10000"/>
          </a:bodyPr>
          <a:lstStyle/>
          <a:p>
            <a:pPr rtl="0"/>
            <a:r>
              <a:rPr lang="en-GB" dirty="0"/>
              <a:t>Renderer.</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921828" y="2959856"/>
            <a:ext cx="5431971" cy="557950"/>
          </a:xfrm>
        </p:spPr>
        <p:txBody>
          <a:bodyPr rtlCol="0"/>
          <a:lstStyle/>
          <a:p>
            <a:pPr rtl="0"/>
            <a:r>
              <a:rPr lang="en-GB" dirty="0"/>
              <a:t>This is what is used to draw all entities to the screen, via the Renderable component.</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rtlCol="0">
            <a:normAutofit lnSpcReduction="10000"/>
          </a:bodyPr>
          <a:lstStyle/>
          <a:p>
            <a:pPr rtl="0"/>
            <a:r>
              <a:rPr lang="en-US" dirty="0"/>
              <a:t>Game Layer.</a:t>
            </a:r>
            <a:endParaRPr lang="en-GB" dirty="0"/>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921828" y="4059652"/>
            <a:ext cx="5431971" cy="557950"/>
          </a:xfrm>
        </p:spPr>
        <p:txBody>
          <a:bodyPr rtlCol="0"/>
          <a:lstStyle/>
          <a:p>
            <a:pPr rtl="0"/>
            <a:r>
              <a:rPr lang="en-GB" dirty="0"/>
              <a:t>The heart of the game and where the logic is made, this attaches to the engine , where its code is ran every frame.</a:t>
            </a:r>
          </a:p>
        </p:txBody>
      </p:sp>
    </p:spTree>
    <p:extLst>
      <p:ext uri="{BB962C8B-B14F-4D97-AF65-F5344CB8AC3E}">
        <p14:creationId xmlns:p14="http://schemas.microsoft.com/office/powerpoint/2010/main" val="1844941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rtlCol="0"/>
          <a:lstStyle/>
          <a:p>
            <a:pPr rtl="0"/>
            <a:r>
              <a:rPr lang="en-GB"/>
              <a:t>Pitch Deck</a:t>
            </a:r>
            <a:endParaRPr lang="en-GB" dirty="0"/>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7</a:t>
            </a:fld>
            <a:endParaRPr lang="en-GB" dirty="0"/>
          </a:p>
        </p:txBody>
      </p:sp>
    </p:spTree>
    <p:extLst>
      <p:ext uri="{BB962C8B-B14F-4D97-AF65-F5344CB8AC3E}">
        <p14:creationId xmlns:p14="http://schemas.microsoft.com/office/powerpoint/2010/main" val="1346372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rtlCol="0"/>
          <a:lstStyle/>
          <a:p>
            <a:pPr rtl="0"/>
            <a:r>
              <a:rPr lang="en-GB" dirty="0"/>
              <a:t>COMPANY OVERVIEW</a:t>
            </a:r>
          </a:p>
        </p:txBody>
      </p:sp>
    </p:spTree>
    <p:extLst>
      <p:ext uri="{BB962C8B-B14F-4D97-AF65-F5344CB8AC3E}">
        <p14:creationId xmlns:p14="http://schemas.microsoft.com/office/powerpoint/2010/main" val="70778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rtlCol="0"/>
          <a:lstStyle/>
          <a:p>
            <a:pPr rtl="0"/>
            <a:r>
              <a:rPr lang="en-GB"/>
              <a:t>BUSINESS MODEL</a:t>
            </a:r>
            <a:endParaRPr lang="en-GB" dirty="0"/>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pPr rtl="0"/>
            <a:r>
              <a:rPr lang="en-GB" noProof="1"/>
              <a:t>ABSTRACT</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rtlCol="0">
            <a:normAutofit/>
          </a:bodyPr>
          <a:lstStyle/>
          <a:p>
            <a:pPr rtl="0"/>
            <a:r>
              <a:rPr lang="en-GB"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pPr rtl="0"/>
            <a:r>
              <a:rPr lang="en-GB"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rtlCol="0">
            <a:normAutofit/>
          </a:bodyPr>
          <a:lstStyle/>
          <a:p>
            <a:pPr rtl="0"/>
            <a:r>
              <a:rPr lang="en-GB"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pPr rtl="0"/>
            <a:r>
              <a:rPr lang="en-GB"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rtlCol="0">
            <a:normAutofit/>
          </a:bodyPr>
          <a:lstStyle/>
          <a:p>
            <a:pPr rtl="0"/>
            <a:r>
              <a:rPr lang="en-GB"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n-GB"/>
              <a:t>20XX</a:t>
            </a:r>
            <a:endParaRPr lang="en-GB" dirty="0"/>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a:t>Pitch Deck</a:t>
            </a:r>
            <a:endParaRPr lang="en-GB" dirty="0"/>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9</a:t>
            </a:fld>
            <a:endParaRPr lang="en-GB" dirty="0"/>
          </a:p>
        </p:txBody>
      </p:sp>
    </p:spTree>
    <p:extLst>
      <p:ext uri="{BB962C8B-B14F-4D97-AF65-F5344CB8AC3E}">
        <p14:creationId xmlns:p14="http://schemas.microsoft.com/office/powerpoint/2010/main" val="2069393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rtlCol="0"/>
          <a:lstStyle/>
          <a:p>
            <a:pPr rtl="0"/>
            <a:r>
              <a:rPr lang="en-GB"/>
              <a:t>MARKET OVERVIEW</a:t>
            </a:r>
            <a:endParaRPr lang="en-GB" dirty="0"/>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rtlCol="0"/>
          <a:lstStyle/>
          <a:p>
            <a:pPr rtl="0"/>
            <a:r>
              <a:rPr lang="en-GB"/>
              <a:t>£3 Billion</a:t>
            </a:r>
            <a:endParaRPr lang="en-GB" dirty="0"/>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pPr rtl="0"/>
            <a:r>
              <a:rPr lang="en-GB" noProof="1"/>
              <a:t>Freedom to invent</a:t>
            </a:r>
            <a:endParaRPr lang="en-GB"/>
          </a:p>
          <a:p>
            <a:pPr rtl="0"/>
            <a:r>
              <a:rPr lang="en-GB" noProof="1"/>
              <a:t>Selectively inclusive market</a:t>
            </a:r>
          </a:p>
          <a:p>
            <a:pPr rtl="0"/>
            <a:r>
              <a:rPr lang="en-GB" noProof="1"/>
              <a:t>Serviceable available market</a:t>
            </a:r>
          </a:p>
          <a:p>
            <a:pPr rtl="0"/>
            <a:endParaRPr lang="en-GB"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rtlCol="0"/>
          <a:lstStyle/>
          <a:p>
            <a:pPr rtl="0"/>
            <a:r>
              <a:rPr lang="en-GB"/>
              <a:t>£1 Billion</a:t>
            </a:r>
            <a:endParaRPr lang="en-GB" dirty="0"/>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rtlCol="0"/>
          <a:lstStyle/>
          <a:p>
            <a:pPr rtl="0"/>
            <a:r>
              <a:rPr lang="en-GB"/>
              <a:t>Opportunity to build</a:t>
            </a:r>
          </a:p>
          <a:p>
            <a:pPr rtl="0"/>
            <a:r>
              <a:rPr lang="en-GB"/>
              <a:t>Fully inclusive market</a:t>
            </a:r>
          </a:p>
          <a:p>
            <a:pPr rtl="0"/>
            <a:r>
              <a:rPr lang="en-GB"/>
              <a:t>Total addressable market</a:t>
            </a:r>
            <a:endParaRPr lang="en-GB" dirty="0"/>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pPr rtl="0"/>
            <a:r>
              <a:rPr lang="en-GB"/>
              <a:t>£2 Billion</a:t>
            </a:r>
            <a:endParaRPr lang="en-GB" dirty="0"/>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rtlCol="0"/>
          <a:lstStyle/>
          <a:p>
            <a:pPr rtl="0"/>
            <a:r>
              <a:rPr lang="en-GB" noProof="1"/>
              <a:t>Few competitors</a:t>
            </a:r>
          </a:p>
          <a:p>
            <a:pPr rtl="0"/>
            <a:r>
              <a:rPr lang="en-GB" noProof="1"/>
              <a:t>Specifically targeted market</a:t>
            </a:r>
          </a:p>
          <a:p>
            <a:pPr rtl="0"/>
            <a:r>
              <a:rPr lang="en-GB" noProof="1"/>
              <a:t>Serviceable obtainable market</a:t>
            </a:r>
            <a:endParaRPr lang="en-GB"/>
          </a:p>
          <a:p>
            <a:pPr rtl="0"/>
            <a:endParaRPr lang="en-GB"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10</a:t>
            </a:fld>
            <a:endParaRPr lang="en-GB" dirty="0"/>
          </a:p>
        </p:txBody>
      </p:sp>
    </p:spTree>
    <p:extLst>
      <p:ext uri="{BB962C8B-B14F-4D97-AF65-F5344CB8AC3E}">
        <p14:creationId xmlns:p14="http://schemas.microsoft.com/office/powerpoint/2010/main" val="212117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rtlCol="0"/>
          <a:lstStyle/>
          <a:p>
            <a:pPr rtl="0"/>
            <a:r>
              <a:rPr lang="en-GB"/>
              <a:t>Market comparison</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rtlCol="0"/>
          <a:lstStyle/>
          <a:p>
            <a:pPr rtl="0"/>
            <a:r>
              <a:rPr lang="en-GB"/>
              <a:t>£3B</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rtlCol="0"/>
          <a:lstStyle/>
          <a:p>
            <a:pPr rtl="0"/>
            <a:r>
              <a:rPr lang="en-GB"/>
              <a:t>£2B</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rtlCol="0"/>
          <a:lstStyle/>
          <a:p>
            <a:pPr rtl="0"/>
            <a:r>
              <a:rPr lang="en-GB"/>
              <a:t>£1B</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rtlCol="0"/>
          <a:lstStyle/>
          <a:p>
            <a:pPr rtl="0"/>
            <a:r>
              <a:rPr lang="en-GB"/>
              <a:t>Opportunity to build</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462927"/>
          </a:xfrm>
        </p:spPr>
        <p:txBody>
          <a:bodyPr rtlCol="0"/>
          <a:lstStyle/>
          <a:p>
            <a:pPr rtl="0"/>
            <a:r>
              <a:rPr lang="en-GB"/>
              <a:t>Addressable market</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rtlCol="0"/>
          <a:lstStyle/>
          <a:p>
            <a:pPr rtl="0"/>
            <a:r>
              <a:rPr lang="en-GB"/>
              <a:t>Freedom to invent</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462927"/>
          </a:xfrm>
        </p:spPr>
        <p:txBody>
          <a:bodyPr rtlCol="0"/>
          <a:lstStyle/>
          <a:p>
            <a:pPr rtl="0"/>
            <a:r>
              <a:rPr lang="en-GB"/>
              <a:t>Serviceable market</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10" y="4824188"/>
            <a:ext cx="3124093" cy="462927"/>
          </a:xfrm>
        </p:spPr>
        <p:txBody>
          <a:bodyPr rtlCol="0"/>
          <a:lstStyle/>
          <a:p>
            <a:pPr rtl="0"/>
            <a:r>
              <a:rPr lang="en-GB"/>
              <a:t>Few competitors</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124093" cy="462927"/>
          </a:xfrm>
        </p:spPr>
        <p:txBody>
          <a:bodyPr rtlCol="0"/>
          <a:lstStyle/>
          <a:p>
            <a:pPr rtl="0"/>
            <a:r>
              <a:rPr lang="en-GB"/>
              <a:t>Obtainable market</a:t>
            </a:r>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11</a:t>
            </a:fld>
            <a:endParaRPr lang="en-GB"/>
          </a:p>
        </p:txBody>
      </p:sp>
    </p:spTree>
    <p:extLst>
      <p:ext uri="{BB962C8B-B14F-4D97-AF65-F5344CB8AC3E}">
        <p14:creationId xmlns:p14="http://schemas.microsoft.com/office/powerpoint/2010/main" val="404854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rtlCol="0"/>
          <a:lstStyle/>
          <a:p>
            <a:pPr rtl="0"/>
            <a:r>
              <a:rPr lang="en-GB"/>
              <a:t>OUR COMPETITION</a:t>
            </a:r>
            <a:endParaRPr lang="en-GB" dirty="0"/>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
          </p:nvPr>
        </p:nvSpPr>
        <p:spPr>
          <a:xfrm>
            <a:off x="2933700" y="2776936"/>
            <a:ext cx="3924300" cy="823912"/>
          </a:xfrm>
        </p:spPr>
        <p:txBody>
          <a:bodyPr rtlCol="0"/>
          <a:lstStyle/>
          <a:p>
            <a:pPr rtl="0"/>
            <a:r>
              <a:rPr lang="en-GB"/>
              <a:t>CONTOSO</a:t>
            </a:r>
            <a:endParaRPr lang="en-GB" dirty="0"/>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3834606"/>
            <a:ext cx="3924300" cy="1997867"/>
          </a:xfrm>
        </p:spPr>
        <p:txBody>
          <a:bodyPr vert="horz" lIns="91440" tIns="45720" rIns="91440" bIns="45720" rtlCol="0" anchor="t">
            <a:normAutofit/>
          </a:bodyPr>
          <a:lstStyle/>
          <a:p>
            <a:pPr rtl="0"/>
            <a:r>
              <a:rPr lang="en-GB" noProof="1"/>
              <a:t>Our product is priced below that of other companies on the market</a:t>
            </a:r>
          </a:p>
          <a:p>
            <a:pPr rtl="0"/>
            <a:r>
              <a:rPr lang="en-GB" noProof="1"/>
              <a:t>Design is simple and easy to use, compared to the complex designs of the competitors</a:t>
            </a:r>
          </a:p>
          <a:p>
            <a:pPr rtl="0"/>
            <a:r>
              <a:rPr lang="en-GB"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410173" y="2776936"/>
            <a:ext cx="3943627" cy="823912"/>
          </a:xfrm>
        </p:spPr>
        <p:txBody>
          <a:bodyPr rtlCol="0"/>
          <a:lstStyle/>
          <a:p>
            <a:pPr rtl="0"/>
            <a:r>
              <a:rPr lang="en-GB"/>
              <a:t>COMPETITORS</a:t>
            </a:r>
            <a:endParaRPr lang="en-GB" dirty="0"/>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7410173" y="3834606"/>
            <a:ext cx="3943627" cy="1997867"/>
          </a:xfrm>
        </p:spPr>
        <p:txBody>
          <a:bodyPr rtlCol="0"/>
          <a:lstStyle/>
          <a:p>
            <a:pPr rtl="0"/>
            <a:r>
              <a:rPr lang="en-GB" b="1" noProof="1"/>
              <a:t>Company A</a:t>
            </a:r>
            <a:br>
              <a:rPr lang="en-GB" noProof="1"/>
            </a:br>
            <a:r>
              <a:rPr lang="en-GB" noProof="1"/>
              <a:t>Product is more expensive</a:t>
            </a:r>
          </a:p>
          <a:p>
            <a:pPr rtl="0"/>
            <a:r>
              <a:rPr lang="en-GB" b="1" noProof="1"/>
              <a:t>Companies B &amp; C </a:t>
            </a:r>
            <a:br>
              <a:rPr lang="en-GB" noProof="1"/>
            </a:br>
            <a:r>
              <a:rPr lang="en-GB" noProof="1"/>
              <a:t>Product is expensive and inconvenient to use</a:t>
            </a:r>
          </a:p>
          <a:p>
            <a:pPr rtl="0"/>
            <a:r>
              <a:rPr lang="en-GB" b="1" noProof="1"/>
              <a:t>Companies D &amp; E</a:t>
            </a:r>
            <a:br>
              <a:rPr lang="en-GB" noProof="1"/>
            </a:br>
            <a:r>
              <a:rPr lang="en-GB" noProof="1"/>
              <a:t>Product is affordable, but inconvenient to use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12</a:t>
            </a:fld>
            <a:endParaRPr lang="en-GB" dirty="0"/>
          </a:p>
        </p:txBody>
      </p:sp>
    </p:spTree>
    <p:extLst>
      <p:ext uri="{BB962C8B-B14F-4D97-AF65-F5344CB8AC3E}">
        <p14:creationId xmlns:p14="http://schemas.microsoft.com/office/powerpoint/2010/main" val="1057409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838200" y="365125"/>
            <a:ext cx="10515600" cy="1325563"/>
          </a:xfrm>
        </p:spPr>
        <p:txBody>
          <a:bodyPr rtlCol="0"/>
          <a:lstStyle/>
          <a:p>
            <a:pPr rtl="0"/>
            <a:r>
              <a:rPr lang="en-GB"/>
              <a:t>Our competition  </a:t>
            </a:r>
          </a:p>
        </p:txBody>
      </p:sp>
      <p:sp>
        <p:nvSpPr>
          <p:cNvPr id="5" name="Text Placeholder 4">
            <a:extLst>
              <a:ext uri="{FF2B5EF4-FFF2-40B4-BE49-F238E27FC236}">
                <a16:creationId xmlns:a16="http://schemas.microsoft.com/office/drawing/2014/main" id="{AB97FAAF-FD5C-4EDE-A2D8-148266453488}"/>
              </a:ext>
            </a:extLst>
          </p:cNvPr>
          <p:cNvSpPr>
            <a:spLocks noGrp="1"/>
          </p:cNvSpPr>
          <p:nvPr>
            <p:ph type="body" sz="quarter" idx="15"/>
          </p:nvPr>
        </p:nvSpPr>
        <p:spPr>
          <a:xfrm>
            <a:off x="5242517" y="1599947"/>
            <a:ext cx="1706965" cy="492025"/>
          </a:xfrm>
        </p:spPr>
        <p:txBody>
          <a:bodyPr rtlCol="0">
            <a:normAutofit/>
          </a:bodyPr>
          <a:lstStyle/>
          <a:p>
            <a:pPr rtl="0"/>
            <a:r>
              <a:rPr lang="en-GB"/>
              <a:t>Convenient</a:t>
            </a:r>
          </a:p>
        </p:txBody>
      </p:sp>
      <p:sp>
        <p:nvSpPr>
          <p:cNvPr id="8" name="Text Placeholder 7">
            <a:extLst>
              <a:ext uri="{FF2B5EF4-FFF2-40B4-BE49-F238E27FC236}">
                <a16:creationId xmlns:a16="http://schemas.microsoft.com/office/drawing/2014/main" id="{B2F06784-6A30-4941-B70A-A58B611950D4}"/>
              </a:ext>
            </a:extLst>
          </p:cNvPr>
          <p:cNvSpPr>
            <a:spLocks noGrp="1"/>
          </p:cNvSpPr>
          <p:nvPr>
            <p:ph type="body" sz="quarter" idx="20"/>
          </p:nvPr>
        </p:nvSpPr>
        <p:spPr>
          <a:xfrm>
            <a:off x="3738732" y="2378452"/>
            <a:ext cx="1183179" cy="492025"/>
          </a:xfrm>
        </p:spPr>
        <p:txBody>
          <a:bodyPr rtlCol="0">
            <a:normAutofit/>
          </a:bodyPr>
          <a:lstStyle/>
          <a:p>
            <a:pPr rtl="0"/>
            <a:r>
              <a:rPr lang="en-GB"/>
              <a:t>Competitor A</a:t>
            </a:r>
          </a:p>
        </p:txBody>
      </p:sp>
      <p:sp>
        <p:nvSpPr>
          <p:cNvPr id="29" name="Text Placeholder 28">
            <a:extLst>
              <a:ext uri="{FF2B5EF4-FFF2-40B4-BE49-F238E27FC236}">
                <a16:creationId xmlns:a16="http://schemas.microsoft.com/office/drawing/2014/main" id="{BF7EE2E1-DA9E-4645-BC0D-305C1F12118B}"/>
              </a:ext>
            </a:extLst>
          </p:cNvPr>
          <p:cNvSpPr>
            <a:spLocks noGrp="1"/>
          </p:cNvSpPr>
          <p:nvPr>
            <p:ph type="body" sz="quarter" idx="26"/>
          </p:nvPr>
        </p:nvSpPr>
        <p:spPr>
          <a:xfrm>
            <a:off x="7522269" y="2169263"/>
            <a:ext cx="1706965" cy="1048575"/>
          </a:xfrm>
        </p:spPr>
        <p:txBody>
          <a:bodyPr rtlCol="0"/>
          <a:lstStyle/>
          <a:p>
            <a:pPr rtl="0"/>
            <a:r>
              <a:rPr lang="en-GB"/>
              <a:t>Contoso</a:t>
            </a:r>
          </a:p>
        </p:txBody>
      </p:sp>
      <p:sp>
        <p:nvSpPr>
          <p:cNvPr id="28" name="Text Placeholder 27">
            <a:extLst>
              <a:ext uri="{FF2B5EF4-FFF2-40B4-BE49-F238E27FC236}">
                <a16:creationId xmlns:a16="http://schemas.microsoft.com/office/drawing/2014/main" id="{E8BD1918-91E9-45FF-B758-93DAFA9EAFE9}"/>
              </a:ext>
            </a:extLst>
          </p:cNvPr>
          <p:cNvSpPr>
            <a:spLocks noGrp="1"/>
          </p:cNvSpPr>
          <p:nvPr>
            <p:ph type="body" sz="quarter" idx="25"/>
          </p:nvPr>
        </p:nvSpPr>
        <p:spPr>
          <a:xfrm>
            <a:off x="921894" y="3528829"/>
            <a:ext cx="1393863" cy="492025"/>
          </a:xfrm>
        </p:spPr>
        <p:txBody>
          <a:bodyPr rtlCol="0"/>
          <a:lstStyle/>
          <a:p>
            <a:pPr rtl="0"/>
            <a:r>
              <a:rPr lang="en-GB"/>
              <a:t>Affordable</a:t>
            </a:r>
          </a:p>
        </p:txBody>
      </p:sp>
      <p:sp>
        <p:nvSpPr>
          <p:cNvPr id="7" name="Text Placeholder 6">
            <a:extLst>
              <a:ext uri="{FF2B5EF4-FFF2-40B4-BE49-F238E27FC236}">
                <a16:creationId xmlns:a16="http://schemas.microsoft.com/office/drawing/2014/main" id="{E9C0C8B1-2DBC-40B1-BBA7-7B3D396478A1}"/>
              </a:ext>
            </a:extLst>
          </p:cNvPr>
          <p:cNvSpPr>
            <a:spLocks noGrp="1"/>
          </p:cNvSpPr>
          <p:nvPr>
            <p:ph type="body" sz="quarter" idx="19"/>
          </p:nvPr>
        </p:nvSpPr>
        <p:spPr>
          <a:xfrm>
            <a:off x="9940449" y="3528829"/>
            <a:ext cx="1380681" cy="492025"/>
          </a:xfrm>
        </p:spPr>
        <p:txBody>
          <a:bodyPr rtlCol="0">
            <a:normAutofit/>
          </a:bodyPr>
          <a:lstStyle/>
          <a:p>
            <a:pPr rtl="0"/>
            <a:r>
              <a:rPr lang="en-GB"/>
              <a:t>Expensive</a:t>
            </a:r>
          </a:p>
        </p:txBody>
      </p:sp>
      <p:sp>
        <p:nvSpPr>
          <p:cNvPr id="25" name="Text Placeholder 24">
            <a:extLst>
              <a:ext uri="{FF2B5EF4-FFF2-40B4-BE49-F238E27FC236}">
                <a16:creationId xmlns:a16="http://schemas.microsoft.com/office/drawing/2014/main" id="{225FED20-8F0E-4B86-88AD-F902806B2CA0}"/>
              </a:ext>
            </a:extLst>
          </p:cNvPr>
          <p:cNvSpPr>
            <a:spLocks noGrp="1"/>
          </p:cNvSpPr>
          <p:nvPr>
            <p:ph type="body" sz="quarter" idx="22"/>
          </p:nvPr>
        </p:nvSpPr>
        <p:spPr>
          <a:xfrm>
            <a:off x="2637747" y="4634331"/>
            <a:ext cx="1183179" cy="492025"/>
          </a:xfrm>
        </p:spPr>
        <p:txBody>
          <a:bodyPr rtlCol="0"/>
          <a:lstStyle/>
          <a:p>
            <a:pPr rtl="0"/>
            <a:r>
              <a:rPr lang="en-GB"/>
              <a:t>Competitor B</a:t>
            </a:r>
          </a:p>
        </p:txBody>
      </p:sp>
      <p:sp>
        <p:nvSpPr>
          <p:cNvPr id="24" name="Text Placeholder 23">
            <a:extLst>
              <a:ext uri="{FF2B5EF4-FFF2-40B4-BE49-F238E27FC236}">
                <a16:creationId xmlns:a16="http://schemas.microsoft.com/office/drawing/2014/main" id="{568D7422-F48C-4829-8937-7DA701F3303B}"/>
              </a:ext>
            </a:extLst>
          </p:cNvPr>
          <p:cNvSpPr>
            <a:spLocks noGrp="1"/>
          </p:cNvSpPr>
          <p:nvPr>
            <p:ph type="body" sz="quarter" idx="21"/>
          </p:nvPr>
        </p:nvSpPr>
        <p:spPr>
          <a:xfrm>
            <a:off x="4175224" y="4459860"/>
            <a:ext cx="1183179" cy="492025"/>
          </a:xfrm>
        </p:spPr>
        <p:txBody>
          <a:bodyPr rtlCol="0"/>
          <a:lstStyle/>
          <a:p>
            <a:pPr rtl="0"/>
            <a:r>
              <a:rPr lang="en-GB"/>
              <a:t>Competitor C</a:t>
            </a:r>
          </a:p>
        </p:txBody>
      </p:sp>
      <p:sp>
        <p:nvSpPr>
          <p:cNvPr id="26" name="Text Placeholder 25">
            <a:extLst>
              <a:ext uri="{FF2B5EF4-FFF2-40B4-BE49-F238E27FC236}">
                <a16:creationId xmlns:a16="http://schemas.microsoft.com/office/drawing/2014/main" id="{2329531A-E68A-4913-9B66-062FBAC6D24D}"/>
              </a:ext>
            </a:extLst>
          </p:cNvPr>
          <p:cNvSpPr>
            <a:spLocks noGrp="1"/>
          </p:cNvSpPr>
          <p:nvPr>
            <p:ph type="body" sz="quarter" idx="23"/>
          </p:nvPr>
        </p:nvSpPr>
        <p:spPr>
          <a:xfrm>
            <a:off x="6552714" y="4321788"/>
            <a:ext cx="1183179" cy="492025"/>
          </a:xfrm>
        </p:spPr>
        <p:txBody>
          <a:bodyPr rtlCol="0"/>
          <a:lstStyle/>
          <a:p>
            <a:pPr rtl="0"/>
            <a:r>
              <a:rPr lang="en-GB"/>
              <a:t>Competitor D</a:t>
            </a:r>
          </a:p>
        </p:txBody>
      </p:sp>
      <p:sp>
        <p:nvSpPr>
          <p:cNvPr id="6" name="Text Placeholder 5">
            <a:extLst>
              <a:ext uri="{FF2B5EF4-FFF2-40B4-BE49-F238E27FC236}">
                <a16:creationId xmlns:a16="http://schemas.microsoft.com/office/drawing/2014/main" id="{7F0BD43D-EBFD-48E7-A1D3-EB9228D4C58B}"/>
              </a:ext>
            </a:extLst>
          </p:cNvPr>
          <p:cNvSpPr>
            <a:spLocks noGrp="1"/>
          </p:cNvSpPr>
          <p:nvPr>
            <p:ph type="body" sz="quarter" idx="17"/>
          </p:nvPr>
        </p:nvSpPr>
        <p:spPr>
          <a:xfrm>
            <a:off x="5242517" y="5468790"/>
            <a:ext cx="1706965" cy="492025"/>
          </a:xfrm>
        </p:spPr>
        <p:txBody>
          <a:bodyPr rtlCol="0">
            <a:normAutofit/>
          </a:bodyPr>
          <a:lstStyle/>
          <a:p>
            <a:pPr rtl="0"/>
            <a:r>
              <a:rPr lang="en-GB"/>
              <a:t>Inconvenient</a:t>
            </a:r>
          </a:p>
        </p:txBody>
      </p:sp>
      <p:sp>
        <p:nvSpPr>
          <p:cNvPr id="27" name="Text Placeholder 26">
            <a:extLst>
              <a:ext uri="{FF2B5EF4-FFF2-40B4-BE49-F238E27FC236}">
                <a16:creationId xmlns:a16="http://schemas.microsoft.com/office/drawing/2014/main" id="{69ADCED5-CED8-4991-9B1E-DB7381BE7431}"/>
              </a:ext>
            </a:extLst>
          </p:cNvPr>
          <p:cNvSpPr>
            <a:spLocks noGrp="1"/>
          </p:cNvSpPr>
          <p:nvPr>
            <p:ph type="body" sz="quarter" idx="24"/>
          </p:nvPr>
        </p:nvSpPr>
        <p:spPr>
          <a:xfrm>
            <a:off x="7801857" y="5195673"/>
            <a:ext cx="1183179" cy="492025"/>
          </a:xfrm>
        </p:spPr>
        <p:txBody>
          <a:bodyPr rtlCol="0"/>
          <a:lstStyle/>
          <a:p>
            <a:pPr rtl="0"/>
            <a:r>
              <a:rPr lang="en-GB"/>
              <a:t>Competitor E</a:t>
            </a:r>
          </a:p>
        </p:txBody>
      </p:sp>
      <p:sp>
        <p:nvSpPr>
          <p:cNvPr id="42" name="Date Placeholder 41">
            <a:extLst>
              <a:ext uri="{FF2B5EF4-FFF2-40B4-BE49-F238E27FC236}">
                <a16:creationId xmlns:a16="http://schemas.microsoft.com/office/drawing/2014/main" id="{8ADD2DBD-D314-47B1-BD25-DAF6D4437F74}"/>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GB" smtClean="0"/>
              <a:pPr rtl="0"/>
              <a:t>13</a:t>
            </a:fld>
            <a:endParaRPr lang="en-GB"/>
          </a:p>
        </p:txBody>
      </p:sp>
      <p:sp>
        <p:nvSpPr>
          <p:cNvPr id="31" name="Oval 30">
            <a:extLst>
              <a:ext uri="{FF2B5EF4-FFF2-40B4-BE49-F238E27FC236}">
                <a16:creationId xmlns:a16="http://schemas.microsoft.com/office/drawing/2014/main" id="{F116CCE2-DE5B-4D04-8780-DE09E03B8A28}"/>
              </a:ext>
              <a:ext uri="{C183D7F6-B498-43B3-948B-1728B52AA6E4}">
                <adec:decorative xmlns:adec="http://schemas.microsoft.com/office/drawing/2017/decorative" val="1"/>
              </a:ext>
            </a:extLst>
          </p:cNvPr>
          <p:cNvSpPr/>
          <p:nvPr/>
        </p:nvSpPr>
        <p:spPr>
          <a:xfrm>
            <a:off x="4291806" y="2334532"/>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3" name="Oval 32">
            <a:extLst>
              <a:ext uri="{FF2B5EF4-FFF2-40B4-BE49-F238E27FC236}">
                <a16:creationId xmlns:a16="http://schemas.microsoft.com/office/drawing/2014/main" id="{1930BF4B-0565-4413-BDB0-116E9B84F127}"/>
              </a:ext>
              <a:ext uri="{C183D7F6-B498-43B3-948B-1728B52AA6E4}">
                <adec:decorative xmlns:adec="http://schemas.microsoft.com/office/drawing/2017/decorative" val="1"/>
              </a:ext>
            </a:extLst>
          </p:cNvPr>
          <p:cNvSpPr/>
          <p:nvPr/>
        </p:nvSpPr>
        <p:spPr>
          <a:xfrm>
            <a:off x="4728369" y="44211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5" name="Oval 34">
            <a:extLst>
              <a:ext uri="{FF2B5EF4-FFF2-40B4-BE49-F238E27FC236}">
                <a16:creationId xmlns:a16="http://schemas.microsoft.com/office/drawing/2014/main" id="{AEC73B38-496F-4951-89EB-38E1A77E186B}"/>
              </a:ext>
              <a:ext uri="{C183D7F6-B498-43B3-948B-1728B52AA6E4}">
                <adec:decorative xmlns:adec="http://schemas.microsoft.com/office/drawing/2017/decorative" val="1"/>
              </a:ext>
            </a:extLst>
          </p:cNvPr>
          <p:cNvSpPr/>
          <p:nvPr/>
        </p:nvSpPr>
        <p:spPr>
          <a:xfrm>
            <a:off x="3164455" y="4595813"/>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7" name="Oval 36">
            <a:extLst>
              <a:ext uri="{FF2B5EF4-FFF2-40B4-BE49-F238E27FC236}">
                <a16:creationId xmlns:a16="http://schemas.microsoft.com/office/drawing/2014/main" id="{8658B547-4844-4FC2-9B4E-C8A8DF4D66D8}"/>
              </a:ext>
              <a:ext uri="{C183D7F6-B498-43B3-948B-1728B52AA6E4}">
                <adec:decorative xmlns:adec="http://schemas.microsoft.com/office/drawing/2017/decorative" val="1"/>
              </a:ext>
            </a:extLst>
          </p:cNvPr>
          <p:cNvSpPr/>
          <p:nvPr/>
        </p:nvSpPr>
        <p:spPr>
          <a:xfrm>
            <a:off x="7106444" y="4288517"/>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9" name="Oval 38">
            <a:extLst>
              <a:ext uri="{FF2B5EF4-FFF2-40B4-BE49-F238E27FC236}">
                <a16:creationId xmlns:a16="http://schemas.microsoft.com/office/drawing/2014/main" id="{B7890BF0-461E-41CE-AFC1-AD52C6B9549E}"/>
              </a:ext>
              <a:ext uri="{C183D7F6-B498-43B3-948B-1728B52AA6E4}">
                <adec:decorative xmlns:adec="http://schemas.microsoft.com/office/drawing/2017/decorative" val="1"/>
              </a:ext>
            </a:extLst>
          </p:cNvPr>
          <p:cNvSpPr/>
          <p:nvPr/>
        </p:nvSpPr>
        <p:spPr>
          <a:xfrm>
            <a:off x="8355806" y="51577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63" name="Graphic 61">
            <a:extLst>
              <a:ext uri="{FF2B5EF4-FFF2-40B4-BE49-F238E27FC236}">
                <a16:creationId xmlns:a16="http://schemas.microsoft.com/office/drawing/2014/main" id="{9201E1F5-4143-449F-8629-751D360010A3}"/>
              </a:ext>
              <a:ext uri="{C183D7F6-B498-43B3-948B-1728B52AA6E4}">
                <adec:decorative xmlns:adec="http://schemas.microsoft.com/office/drawing/2017/decorative" val="1"/>
              </a:ext>
            </a:extLst>
          </p:cNvPr>
          <p:cNvSpPr/>
          <p:nvPr/>
        </p:nvSpPr>
        <p:spPr>
          <a:xfrm>
            <a:off x="7597401" y="2072999"/>
            <a:ext cx="1519834" cy="1268594"/>
          </a:xfrm>
          <a:custGeom>
            <a:avLst/>
            <a:gdLst>
              <a:gd name="connsiteX0" fmla="*/ 625766 w 1590050"/>
              <a:gd name="connsiteY0" fmla="*/ 178826 h 1315433"/>
              <a:gd name="connsiteX1" fmla="*/ 284934 w 1590050"/>
              <a:gd name="connsiteY1" fmla="*/ 458195 h 1315433"/>
              <a:gd name="connsiteX2" fmla="*/ 236288 w 1590050"/>
              <a:gd name="connsiteY2" fmla="*/ 498087 h 1315433"/>
              <a:gd name="connsiteX3" fmla="*/ 70217 w 1590050"/>
              <a:gd name="connsiteY3" fmla="*/ 843983 h 1315433"/>
              <a:gd name="connsiteX4" fmla="*/ 651339 w 1590050"/>
              <a:gd name="connsiteY4" fmla="*/ 1315434 h 1315433"/>
              <a:gd name="connsiteX5" fmla="*/ 1079209 w 1590050"/>
              <a:gd name="connsiteY5" fmla="*/ 1264350 h 1315433"/>
              <a:gd name="connsiteX6" fmla="*/ 1430420 w 1590050"/>
              <a:gd name="connsiteY6" fmla="*/ 957844 h 1315433"/>
              <a:gd name="connsiteX7" fmla="*/ 1590051 w 1590050"/>
              <a:gd name="connsiteY7" fmla="*/ 536415 h 1315433"/>
              <a:gd name="connsiteX8" fmla="*/ 1277105 w 1590050"/>
              <a:gd name="connsiteY8" fmla="*/ 312883 h 1315433"/>
              <a:gd name="connsiteX9" fmla="*/ 913138 w 1590050"/>
              <a:gd name="connsiteY9" fmla="*/ 134119 h 1315433"/>
              <a:gd name="connsiteX10" fmla="*/ 536415 w 1590050"/>
              <a:gd name="connsiteY10" fmla="*/ 83035 h 1315433"/>
              <a:gd name="connsiteX11" fmla="*/ 191581 w 1590050"/>
              <a:gd name="connsiteY11" fmla="*/ 843983 h 1315433"/>
              <a:gd name="connsiteX12" fmla="*/ 146875 w 1590050"/>
              <a:gd name="connsiteY12" fmla="*/ 1149426 h 1315433"/>
              <a:gd name="connsiteX13" fmla="*/ 1245217 w 1590050"/>
              <a:gd name="connsiteY13" fmla="*/ 1289923 h 1315433"/>
              <a:gd name="connsiteX14" fmla="*/ 1519771 w 1590050"/>
              <a:gd name="connsiteY14" fmla="*/ 344834 h 1315433"/>
              <a:gd name="connsiteX15" fmla="*/ 798214 w 1590050"/>
              <a:gd name="connsiteY15" fmla="*/ 223532 h 1315433"/>
              <a:gd name="connsiteX16" fmla="*/ 0 w 1590050"/>
              <a:gd name="connsiteY16" fmla="*/ 699235 h 1315433"/>
              <a:gd name="connsiteX17" fmla="*/ 434247 w 1590050"/>
              <a:gd name="connsiteY17" fmla="*/ 1315434 h 1315433"/>
              <a:gd name="connsiteX18" fmla="*/ 1468686 w 1590050"/>
              <a:gd name="connsiteY18" fmla="*/ 1091964 h 1315433"/>
              <a:gd name="connsiteX19" fmla="*/ 1155804 w 1590050"/>
              <a:gd name="connsiteY19" fmla="*/ 0 h 1315433"/>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146875 w 1590051"/>
              <a:gd name="connsiteY12" fmla="*/ 114942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344995 w 1590051"/>
              <a:gd name="connsiteY12" fmla="*/ 101988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727997 w 1519834"/>
              <a:gd name="connsiteY15" fmla="*/ 22353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428949 w 1519834"/>
              <a:gd name="connsiteY18" fmla="*/ 939564 h 1315434"/>
              <a:gd name="connsiteX19" fmla="*/ 1085587 w 1519834"/>
              <a:gd name="connsiteY19" fmla="*/ 0 h 1315434"/>
              <a:gd name="connsiteX20" fmla="*/ 555549 w 1519834"/>
              <a:gd name="connsiteY20" fmla="*/ 178826 h 131543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64030 w 1519834"/>
              <a:gd name="connsiteY17" fmla="*/ 131543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56410 w 1519834"/>
              <a:gd name="connsiteY17" fmla="*/ 124685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95791 h 1262879"/>
              <a:gd name="connsiteX1" fmla="*/ 214717 w 1519834"/>
              <a:gd name="connsiteY1" fmla="*/ 375160 h 1262879"/>
              <a:gd name="connsiteX2" fmla="*/ 166071 w 1519834"/>
              <a:gd name="connsiteY2" fmla="*/ 415052 h 1262879"/>
              <a:gd name="connsiteX3" fmla="*/ 0 w 1519834"/>
              <a:gd name="connsiteY3" fmla="*/ 760948 h 1262879"/>
              <a:gd name="connsiteX4" fmla="*/ 741142 w 1519834"/>
              <a:gd name="connsiteY4" fmla="*/ 1262879 h 1262879"/>
              <a:gd name="connsiteX5" fmla="*/ 1008992 w 1519834"/>
              <a:gd name="connsiteY5" fmla="*/ 1181315 h 1262879"/>
              <a:gd name="connsiteX6" fmla="*/ 1253523 w 1519834"/>
              <a:gd name="connsiteY6" fmla="*/ 829089 h 1262879"/>
              <a:gd name="connsiteX7" fmla="*/ 1519834 w 1519834"/>
              <a:gd name="connsiteY7" fmla="*/ 453380 h 1262879"/>
              <a:gd name="connsiteX8" fmla="*/ 1206888 w 1519834"/>
              <a:gd name="connsiteY8" fmla="*/ 229848 h 1262879"/>
              <a:gd name="connsiteX9" fmla="*/ 842921 w 1519834"/>
              <a:gd name="connsiteY9" fmla="*/ 51084 h 1262879"/>
              <a:gd name="connsiteX10" fmla="*/ 466198 w 1519834"/>
              <a:gd name="connsiteY10" fmla="*/ 0 h 1262879"/>
              <a:gd name="connsiteX11" fmla="*/ 220424 w 1519834"/>
              <a:gd name="connsiteY11" fmla="*/ 578068 h 1262879"/>
              <a:gd name="connsiteX12" fmla="*/ 274778 w 1519834"/>
              <a:gd name="connsiteY12" fmla="*/ 936851 h 1262879"/>
              <a:gd name="connsiteX13" fmla="*/ 1175000 w 1519834"/>
              <a:gd name="connsiteY13" fmla="*/ 1206888 h 1262879"/>
              <a:gd name="connsiteX14" fmla="*/ 1449554 w 1519834"/>
              <a:gd name="connsiteY14" fmla="*/ 261799 h 1262879"/>
              <a:gd name="connsiteX15" fmla="*/ 331757 w 1519834"/>
              <a:gd name="connsiteY15" fmla="*/ 79537 h 1262879"/>
              <a:gd name="connsiteX16" fmla="*/ 105043 w 1519834"/>
              <a:gd name="connsiteY16" fmla="*/ 639060 h 1262879"/>
              <a:gd name="connsiteX17" fmla="*/ 356410 w 1519834"/>
              <a:gd name="connsiteY17" fmla="*/ 1163819 h 1262879"/>
              <a:gd name="connsiteX18" fmla="*/ 1428949 w 1519834"/>
              <a:gd name="connsiteY18" fmla="*/ 856529 h 1262879"/>
              <a:gd name="connsiteX19" fmla="*/ 1055107 w 1519834"/>
              <a:gd name="connsiteY19" fmla="*/ 61745 h 1262879"/>
              <a:gd name="connsiteX20" fmla="*/ 555549 w 1519834"/>
              <a:gd name="connsiteY20" fmla="*/ 95791 h 1262879"/>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428949 w 1519834"/>
              <a:gd name="connsiteY18" fmla="*/ 85652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203699 w 1519834"/>
              <a:gd name="connsiteY19" fmla="*/ 489226 h 1268594"/>
              <a:gd name="connsiteX20" fmla="*/ 1055107 w 1519834"/>
              <a:gd name="connsiteY20" fmla="*/ 61745 h 1268594"/>
              <a:gd name="connsiteX21" fmla="*/ 555549 w 1519834"/>
              <a:gd name="connsiteY21"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489449 w 1519834"/>
              <a:gd name="connsiteY19" fmla="*/ 641626 h 1268594"/>
              <a:gd name="connsiteX20" fmla="*/ 1055107 w 1519834"/>
              <a:gd name="connsiteY20" fmla="*/ 61745 h 1268594"/>
              <a:gd name="connsiteX21" fmla="*/ 555549 w 1519834"/>
              <a:gd name="connsiteY21" fmla="*/ 95791 h 126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9834" h="1268594">
                <a:moveTo>
                  <a:pt x="555549" y="95791"/>
                </a:moveTo>
                <a:lnTo>
                  <a:pt x="214717" y="375160"/>
                </a:lnTo>
                <a:lnTo>
                  <a:pt x="166071" y="415052"/>
                </a:lnTo>
                <a:lnTo>
                  <a:pt x="0" y="760948"/>
                </a:lnTo>
                <a:lnTo>
                  <a:pt x="741142" y="1262879"/>
                </a:lnTo>
                <a:lnTo>
                  <a:pt x="1008992" y="1181315"/>
                </a:lnTo>
                <a:lnTo>
                  <a:pt x="1253523" y="829089"/>
                </a:lnTo>
                <a:lnTo>
                  <a:pt x="1519834" y="453380"/>
                </a:lnTo>
                <a:lnTo>
                  <a:pt x="1206888" y="229848"/>
                </a:lnTo>
                <a:lnTo>
                  <a:pt x="842921" y="51084"/>
                </a:lnTo>
                <a:lnTo>
                  <a:pt x="466198" y="0"/>
                </a:lnTo>
                <a:lnTo>
                  <a:pt x="220424" y="578068"/>
                </a:lnTo>
                <a:lnTo>
                  <a:pt x="274778" y="936851"/>
                </a:lnTo>
                <a:lnTo>
                  <a:pt x="1175000" y="1206888"/>
                </a:lnTo>
                <a:lnTo>
                  <a:pt x="1449554" y="261799"/>
                </a:lnTo>
                <a:lnTo>
                  <a:pt x="331757" y="79537"/>
                </a:lnTo>
                <a:lnTo>
                  <a:pt x="105043" y="639060"/>
                </a:lnTo>
                <a:lnTo>
                  <a:pt x="489760" y="1268594"/>
                </a:lnTo>
                <a:lnTo>
                  <a:pt x="1371799" y="989879"/>
                </a:lnTo>
                <a:lnTo>
                  <a:pt x="1489449" y="641626"/>
                </a:lnTo>
                <a:lnTo>
                  <a:pt x="1055107" y="61745"/>
                </a:lnTo>
                <a:lnTo>
                  <a:pt x="555549" y="95791"/>
                </a:lnTo>
                <a:close/>
              </a:path>
            </a:pathLst>
          </a:custGeom>
          <a:noFill/>
          <a:ln w="3175" cap="flat">
            <a:solidFill>
              <a:schemeClr val="tx1"/>
            </a:solidFill>
            <a:prstDash val="solid"/>
            <a:miter/>
          </a:ln>
        </p:spPr>
        <p:txBody>
          <a:bodyPr rtlCol="0" anchor="ctr"/>
          <a:lstStyle/>
          <a:p>
            <a:pPr rtl="0"/>
            <a:endParaRPr lang="en-GB"/>
          </a:p>
        </p:txBody>
      </p:sp>
    </p:spTree>
    <p:extLst>
      <p:ext uri="{BB962C8B-B14F-4D97-AF65-F5344CB8AC3E}">
        <p14:creationId xmlns:p14="http://schemas.microsoft.com/office/powerpoint/2010/main" val="141739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rtlCol="0"/>
          <a:lstStyle/>
          <a:p>
            <a:pPr rtl="0"/>
            <a:r>
              <a:rPr lang="en-GB"/>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pPr rtl="0"/>
            <a:r>
              <a:rPr lang="en-GB"/>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rtlCol="0">
            <a:normAutofit/>
          </a:bodyPr>
          <a:lstStyle/>
          <a:p>
            <a:pPr rtl="0"/>
            <a:r>
              <a:rPr lang="en-GB"/>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rtlCol="0">
            <a:normAutofit lnSpcReduction="10000"/>
          </a:bodyPr>
          <a:lstStyle/>
          <a:p>
            <a:pPr rtl="0"/>
            <a:r>
              <a:rPr lang="en-GB"/>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rtlCol="0"/>
          <a:lstStyle/>
          <a:p>
            <a:pPr rtl="0"/>
            <a:r>
              <a:rPr lang="en-GB"/>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rtlCol="0">
            <a:normAutofit lnSpcReduction="10000"/>
          </a:bodyPr>
          <a:lstStyle/>
          <a:p>
            <a:pPr rtl="0"/>
            <a:r>
              <a:rPr lang="en-GB"/>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rtlCol="0">
            <a:normAutofit/>
          </a:bodyPr>
          <a:lstStyle/>
          <a:p>
            <a:pPr rtl="0"/>
            <a:r>
              <a:rPr lang="en-GB"/>
              <a:t>Gather feedback and adjust product design as necessary</a:t>
            </a:r>
          </a:p>
          <a:p>
            <a:pPr rtl="0"/>
            <a:endParaRPr lang="en-GB"/>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14</a:t>
            </a:fld>
            <a:endParaRPr lang="en-GB"/>
          </a:p>
        </p:txBody>
      </p:sp>
    </p:spTree>
    <p:extLst>
      <p:ext uri="{BB962C8B-B14F-4D97-AF65-F5344CB8AC3E}">
        <p14:creationId xmlns:p14="http://schemas.microsoft.com/office/powerpoint/2010/main" val="1472106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rtlCol="0"/>
          <a:lstStyle/>
          <a:p>
            <a:pPr rtl="0"/>
            <a:r>
              <a:rPr lang="en-GB" dirty="0"/>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rtlCol="0"/>
          <a:lstStyle/>
          <a:p>
            <a:pPr rtl="0"/>
            <a:r>
              <a:rPr lang="en-GB" dirty="0"/>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380831399"/>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rtl="0"/>
                      <a:r>
                        <a:rPr lang="en-GB" sz="1400" b="0" cap="all" spc="150" noProof="0">
                          <a:solidFill>
                            <a:schemeClr val="bg1"/>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n-GB"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n-GB"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n-GB"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rtl="0"/>
                      <a:endParaRPr lang="en-GB" sz="1400" b="0" cap="all" spc="150" baseline="0" noProof="0">
                        <a:solidFill>
                          <a:schemeClr val="bg1"/>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23065677"/>
                  </a:ext>
                </a:extLst>
              </a:tr>
              <a:tr h="638982">
                <a:tc>
                  <a:txBody>
                    <a:bodyPr/>
                    <a:lstStyle/>
                    <a:p>
                      <a:pPr algn="ctr" rtl="0"/>
                      <a:endParaRPr lang="en-GB" sz="1200" noProof="0">
                        <a:solidFill>
                          <a:schemeClr val="tx1"/>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solidFill>
                          <a:latin typeface="+mn-lt"/>
                          <a:ea typeface="+mn-ea"/>
                          <a:cs typeface="+mn-cs"/>
                        </a:rPr>
                        <a:t>Clients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solidFill>
                          <a:latin typeface="+mn-lt"/>
                          <a:ea typeface="+mn-ea"/>
                          <a:cs typeface="+mn-cs"/>
                        </a:rPr>
                        <a:t>Orders</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solidFill>
                          <a:latin typeface="+mn-lt"/>
                          <a:ea typeface="+mn-ea"/>
                          <a:cs typeface="+mn-cs"/>
                        </a:rPr>
                        <a:t>Gross revenue</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kern="1200" noProof="0">
                          <a:solidFill>
                            <a:schemeClr val="tx1"/>
                          </a:solidFill>
                          <a:latin typeface="+mn-lt"/>
                          <a:ea typeface="+mn-ea"/>
                          <a:cs typeface="+mn-cs"/>
                        </a:rPr>
                        <a:t>Net revenue</a:t>
                      </a: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rtl="0"/>
                      <a:r>
                        <a:rPr lang="en-GB"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10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1100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£10,000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£7,000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rtl="0"/>
                      <a:r>
                        <a:rPr lang="en-GB"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20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200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£20,000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£16,000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rtl="0"/>
                      <a:r>
                        <a:rPr lang="en-GB"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30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200" noProof="0">
                          <a:solidFill>
                            <a:schemeClr val="tx1"/>
                          </a:solidFill>
                        </a:rPr>
                        <a:t>300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£30,000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£25,000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rtl="0"/>
                      <a:r>
                        <a:rPr lang="en-GB" sz="1200" noProof="0">
                          <a:solidFill>
                            <a:schemeClr val="tx1"/>
                          </a:solidFill>
                        </a:rPr>
                        <a:t>20XX</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a:r>
                        <a:rPr lang="en-GB" sz="1200" noProof="0">
                          <a:solidFill>
                            <a:schemeClr val="tx1"/>
                          </a:solidFill>
                        </a:rPr>
                        <a:t>40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a:r>
                        <a:rPr lang="en-GB" sz="1200" noProof="0">
                          <a:solidFill>
                            <a:schemeClr val="tx1"/>
                          </a:solidFill>
                        </a:rPr>
                        <a:t>400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£40,000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£30,000</a:t>
                      </a: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rtlCol="0">
            <a:normAutofit/>
          </a:bodyPr>
          <a:lstStyle/>
          <a:p>
            <a:pPr rtl="0"/>
            <a:r>
              <a:rPr lang="en-GB" dirty="0"/>
              <a:t>REVENUE BY YEAR</a:t>
            </a:r>
          </a:p>
        </p:txBody>
      </p:sp>
      <p:graphicFrame>
        <p:nvGraphicFramePr>
          <p:cNvPr id="34" name="Content Placeholder 13" descr="Chart">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3739893033"/>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rtlCol="0"/>
          <a:lstStyle/>
          <a:p>
            <a:pPr rtl="0"/>
            <a:r>
              <a:rPr lang="en-GB" dirty="0"/>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rtlCol="0"/>
          <a:lstStyle/>
          <a:p>
            <a:pPr rtl="0"/>
            <a:r>
              <a:rPr lang="en-GB" dirty="0"/>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15</a:t>
            </a:fld>
            <a:endParaRPr lang="en-GB"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935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rtlCol="0"/>
          <a:lstStyle/>
          <a:p>
            <a:pPr rtl="0"/>
            <a:r>
              <a:rPr lang="en-GB"/>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dirty="0">
                <a:latin typeface="+mj-lt"/>
                <a:ea typeface="+mj-ea"/>
                <a:cs typeface="+mj-cs"/>
              </a:rPr>
              <a:t>DRAFT BLUEPRINTS</a:t>
            </a:r>
            <a:endParaRPr lang="en-GB" sz="1100" dirty="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a:latin typeface="+mj-lt"/>
                <a:ea typeface="+mj-ea"/>
                <a:cs typeface="+mj-cs"/>
              </a:rPr>
              <a:t>GATHER FEEDBACK</a:t>
            </a:r>
            <a:endParaRPr lang="en-GB" sz="110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dirty="0">
                <a:latin typeface="+mj-lt"/>
                <a:ea typeface="+mj-ea"/>
                <a:cs typeface="+mj-cs"/>
              </a:rPr>
              <a:t>DELIVER TO CLIENT</a:t>
            </a:r>
            <a:endParaRPr lang="en-GB"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rtlCol="0">
            <a:normAutofit/>
          </a:bodyPr>
          <a:lstStyle/>
          <a:p>
            <a:pPr rtl="0"/>
            <a:r>
              <a:rPr lang="en-GB"/>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rtlCol="0">
            <a:normAutofit fontScale="85000" lnSpcReduction="20000"/>
          </a:bodyPr>
          <a:lstStyle/>
          <a:p>
            <a:pPr rtl="0"/>
            <a:r>
              <a:rPr lang="en-GB"/>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rtlCol="0">
            <a:normAutofit fontScale="85000" lnSpcReduction="20000"/>
          </a:bodyPr>
          <a:lstStyle/>
          <a:p>
            <a:pPr rtl="0"/>
            <a:r>
              <a:rPr lang="en-GB"/>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rtlCol="0">
            <a:normAutofit fontScale="85000" lnSpcReduction="20000"/>
          </a:bodyPr>
          <a:lstStyle/>
          <a:p>
            <a:pPr rtl="0"/>
            <a:r>
              <a:rPr lang="en-GB"/>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rtlCol="0">
            <a:normAutofit fontScale="85000" lnSpcReduction="20000"/>
          </a:bodyPr>
          <a:lstStyle/>
          <a:p>
            <a:pPr rtl="0"/>
            <a:r>
              <a:rPr lang="en-GB"/>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rtlCol="0">
            <a:normAutofit fontScale="85000" lnSpcReduction="20000"/>
          </a:bodyPr>
          <a:lstStyle/>
          <a:p>
            <a:pPr rtl="0"/>
            <a:r>
              <a:rPr lang="en-GB"/>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rtlCol="0">
            <a:normAutofit fontScale="85000" lnSpcReduction="20000"/>
          </a:bodyPr>
          <a:lstStyle/>
          <a:p>
            <a:pPr rtl="0"/>
            <a:r>
              <a:rPr lang="en-GB"/>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rtlCol="0">
            <a:normAutofit fontScale="85000" lnSpcReduction="20000"/>
          </a:bodyPr>
          <a:lstStyle/>
          <a:p>
            <a:pPr rtl="0"/>
            <a:r>
              <a:rPr lang="en-GB"/>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rtlCol="0">
            <a:normAutofit fontScale="85000" lnSpcReduction="20000"/>
          </a:bodyPr>
          <a:lstStyle/>
          <a:p>
            <a:pPr rtl="0"/>
            <a:r>
              <a:rPr lang="en-GB"/>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rtlCol="0">
            <a:normAutofit fontScale="85000" lnSpcReduction="20000"/>
          </a:bodyPr>
          <a:lstStyle/>
          <a:p>
            <a:pPr rtl="0"/>
            <a:r>
              <a:rPr lang="en-GB"/>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rtlCol="0">
            <a:normAutofit fontScale="85000" lnSpcReduction="20000"/>
          </a:bodyPr>
          <a:lstStyle/>
          <a:p>
            <a:pPr rtl="0"/>
            <a:r>
              <a:rPr lang="en-GB"/>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rtlCol="0">
            <a:normAutofit fontScale="85000" lnSpcReduction="20000"/>
          </a:bodyPr>
          <a:lstStyle/>
          <a:p>
            <a:pPr rtl="0"/>
            <a:r>
              <a:rPr lang="en-GB"/>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rtlCol="0">
            <a:normAutofit fontScale="85000" lnSpcReduction="20000"/>
          </a:bodyPr>
          <a:lstStyle/>
          <a:p>
            <a:pPr rtl="0"/>
            <a:r>
              <a:rPr lang="en-GB"/>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rtlCol="0">
            <a:normAutofit/>
          </a:bodyPr>
          <a:lstStyle/>
          <a:p>
            <a:pPr rtl="0"/>
            <a:r>
              <a:rPr lang="en-GB"/>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rtlCol="0">
            <a:normAutofit fontScale="85000" lnSpcReduction="20000"/>
          </a:bodyPr>
          <a:lstStyle/>
          <a:p>
            <a:pPr rtl="0"/>
            <a:r>
              <a:rPr lang="en-GB"/>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rtlCol="0">
            <a:normAutofit fontScale="85000" lnSpcReduction="20000"/>
          </a:bodyPr>
          <a:lstStyle/>
          <a:p>
            <a:pPr rtl="0"/>
            <a:r>
              <a:rPr lang="en-GB"/>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rtlCol="0">
            <a:normAutofit fontScale="85000" lnSpcReduction="20000"/>
          </a:bodyPr>
          <a:lstStyle/>
          <a:p>
            <a:pPr rtl="0"/>
            <a:r>
              <a:rPr lang="en-GB"/>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rtlCol="0">
            <a:normAutofit fontScale="85000" lnSpcReduction="20000"/>
          </a:bodyPr>
          <a:lstStyle/>
          <a:p>
            <a:pPr rtl="0"/>
            <a:r>
              <a:rPr lang="en-GB"/>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rtlCol="0">
            <a:normAutofit fontScale="85000" lnSpcReduction="20000"/>
          </a:bodyPr>
          <a:lstStyle/>
          <a:p>
            <a:pPr rtl="0"/>
            <a:r>
              <a:rPr lang="en-GB"/>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rtlCol="0">
            <a:normAutofit fontScale="85000" lnSpcReduction="20000"/>
          </a:bodyPr>
          <a:lstStyle/>
          <a:p>
            <a:pPr rtl="0"/>
            <a:r>
              <a:rPr lang="en-GB"/>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rtlCol="0">
            <a:normAutofit fontScale="85000" lnSpcReduction="20000"/>
          </a:bodyPr>
          <a:lstStyle/>
          <a:p>
            <a:pPr rtl="0"/>
            <a:r>
              <a:rPr lang="en-GB"/>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rtlCol="0">
            <a:normAutofit fontScale="85000" lnSpcReduction="20000"/>
          </a:bodyPr>
          <a:lstStyle/>
          <a:p>
            <a:pPr rtl="0"/>
            <a:r>
              <a:rPr lang="en-GB"/>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rtlCol="0">
            <a:normAutofit fontScale="85000" lnSpcReduction="20000"/>
          </a:bodyPr>
          <a:lstStyle/>
          <a:p>
            <a:pPr rtl="0"/>
            <a:r>
              <a:rPr lang="en-GB"/>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rtlCol="0">
            <a:normAutofit fontScale="85000" lnSpcReduction="20000"/>
          </a:bodyPr>
          <a:lstStyle/>
          <a:p>
            <a:pPr rtl="0"/>
            <a:r>
              <a:rPr lang="en-GB"/>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rtlCol="0">
            <a:normAutofit fontScale="85000" lnSpcReduction="20000"/>
          </a:bodyPr>
          <a:lstStyle/>
          <a:p>
            <a:pPr rtl="0"/>
            <a:r>
              <a:rPr lang="en-GB"/>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rtlCol="0">
            <a:normAutofit fontScale="85000" lnSpcReduction="20000"/>
          </a:bodyPr>
          <a:lstStyle/>
          <a:p>
            <a:pPr rtl="0"/>
            <a:r>
              <a:rPr lang="en-GB"/>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034238" y="5206365"/>
            <a:ext cx="2507562"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dirty="0">
                <a:latin typeface="+mj-lt"/>
                <a:ea typeface="+mj-ea"/>
                <a:cs typeface="+mj-cs"/>
              </a:rPr>
              <a:t>RUN FOCUS GROUPS</a:t>
            </a:r>
            <a:endParaRPr lang="en-GB"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dirty="0">
                <a:latin typeface="+mj-lt"/>
                <a:ea typeface="+mj-ea"/>
                <a:cs typeface="+mj-cs"/>
              </a:rPr>
              <a:t>TEST DESIGN</a:t>
            </a:r>
            <a:endParaRPr lang="en-GB"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lnSpc>
                <a:spcPct val="150000"/>
              </a:lnSpc>
              <a:buFont typeface="Arial" panose="020B0604020202020204" pitchFamily="34" charset="0"/>
              <a:buNone/>
            </a:pPr>
            <a:r>
              <a:rPr lang="en-GB" sz="1400" spc="150" dirty="0">
                <a:latin typeface="+mj-lt"/>
                <a:ea typeface="+mj-ea"/>
                <a:cs typeface="+mj-cs"/>
              </a:rPr>
              <a:t>LAUNCH DESIGN</a:t>
            </a:r>
            <a:endParaRPr lang="en-GB"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rtlCol="0"/>
          <a:lstStyle/>
          <a:p>
            <a:pPr rtl="0"/>
            <a:fld id="{19B51A1E-902D-48AF-9020-955120F399B6}" type="slidenum">
              <a:rPr lang="en-GB" smtClean="0"/>
              <a:pPr rtl="0"/>
              <a:t>16</a:t>
            </a:fld>
            <a:endParaRPr lang="en-GB"/>
          </a:p>
        </p:txBody>
      </p:sp>
    </p:spTree>
    <p:extLst>
      <p:ext uri="{BB962C8B-B14F-4D97-AF65-F5344CB8AC3E}">
        <p14:creationId xmlns:p14="http://schemas.microsoft.com/office/powerpoint/2010/main" val="57897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rtlCol="0" anchor="ctr">
            <a:normAutofit/>
          </a:bodyPr>
          <a:lstStyle/>
          <a:p>
            <a:pPr rtl="0"/>
            <a:r>
              <a:rPr lang="en-GB"/>
              <a:t>FINANCIALS</a:t>
            </a:r>
          </a:p>
        </p:txBody>
      </p:sp>
      <p:graphicFrame>
        <p:nvGraphicFramePr>
          <p:cNvPr id="17" name="Table 9">
            <a:extLst>
              <a:ext uri="{FF2B5EF4-FFF2-40B4-BE49-F238E27FC236}">
                <a16:creationId xmlns:a16="http://schemas.microsoft.com/office/drawing/2014/main" id="{CD227AD3-0512-4367-9783-E5F086A86CF5}"/>
              </a:ext>
            </a:extLst>
          </p:cNvPr>
          <p:cNvGraphicFramePr>
            <a:graphicFrameLocks noGrp="1"/>
          </p:cNvGraphicFramePr>
          <p:nvPr>
            <p:ph type="dgm" sz="quarter" idx="15"/>
            <p:extLst>
              <p:ext uri="{D42A27DB-BD31-4B8C-83A1-F6EECF244321}">
                <p14:modId xmlns:p14="http://schemas.microsoft.com/office/powerpoint/2010/main" val="782516996"/>
              </p:ext>
            </p:extLst>
          </p:nvPr>
        </p:nvGraphicFramePr>
        <p:xfrm>
          <a:off x="838200" y="2138363"/>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rtl="0" fontAlgn="b"/>
                      <a:endParaRPr lang="en-GB" sz="1200" b="0" i="0" u="none" strike="noStrike" noProof="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r" rtl="0" fontAlgn="b"/>
                      <a:r>
                        <a:rPr lang="en-GB" sz="1200" b="1" u="none" strike="noStrike" noProof="0">
                          <a:solidFill>
                            <a:schemeClr val="bg1"/>
                          </a:solidFill>
                          <a:effectLst/>
                        </a:rPr>
                        <a:t>Year 1</a:t>
                      </a:r>
                      <a:endParaRPr lang="en-GB" sz="1200" b="1"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r" rtl="0" fontAlgn="b"/>
                      <a:r>
                        <a:rPr lang="en-GB" sz="1200" b="1" u="none" strike="noStrike" noProof="0">
                          <a:solidFill>
                            <a:schemeClr val="bg1"/>
                          </a:solidFill>
                          <a:effectLst/>
                        </a:rPr>
                        <a:t>Year 2</a:t>
                      </a:r>
                      <a:endParaRPr lang="en-GB" sz="1200" b="1"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r" rtl="0" fontAlgn="b"/>
                      <a:r>
                        <a:rPr lang="en-GB" sz="1200" b="1" u="none" strike="noStrike" noProof="0">
                          <a:solidFill>
                            <a:schemeClr val="bg1"/>
                          </a:solidFill>
                          <a:effectLst/>
                        </a:rPr>
                        <a:t>Year 3</a:t>
                      </a:r>
                      <a:endParaRPr lang="en-GB" sz="1200" b="1"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l" rtl="0" fontAlgn="b"/>
                      <a:endParaRPr lang="en-GB" sz="1200" b="0" i="0" u="none" strike="noStrike" noProof="0">
                        <a:solidFill>
                          <a:schemeClr val="bg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140773105"/>
                  </a:ext>
                </a:extLst>
              </a:tr>
              <a:tr h="284706">
                <a:tc>
                  <a:txBody>
                    <a:bodyPr/>
                    <a:lstStyle/>
                    <a:p>
                      <a:pPr algn="l" rtl="0" fontAlgn="b"/>
                      <a:r>
                        <a:rPr lang="en-GB" sz="1200" b="0" i="0" u="none" strike="noStrike" noProof="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rtl="0" fontAlgn="b"/>
                      <a:r>
                        <a:rPr lang="en-GB" sz="1200" b="0" u="none" strike="noStrike" noProof="0">
                          <a:solidFill>
                            <a:schemeClr val="tx1"/>
                          </a:solidFill>
                          <a:effectLst/>
                        </a:rPr>
                        <a:t>Users</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1,600,000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rtl="0" fontAlgn="b"/>
                      <a:r>
                        <a:rPr lang="en-GB" sz="1200" b="0" u="none" strike="noStrike" noProof="0">
                          <a:solidFill>
                            <a:schemeClr val="tx1"/>
                          </a:solidFill>
                          <a:effectLst/>
                        </a:rPr>
                        <a:t>Sales</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16,000,000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rtl="0" fontAlgn="b"/>
                      <a:r>
                        <a:rPr lang="en-GB" sz="1200" b="0" u="none" strike="noStrike" noProof="0">
                          <a:solidFill>
                            <a:schemeClr val="tx1"/>
                          </a:solidFill>
                          <a:effectLst/>
                        </a:rPr>
                        <a:t>Average price per sale</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75</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80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90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rtl="0" fontAlgn="b"/>
                      <a:r>
                        <a:rPr lang="en-GB" sz="1200" b="0" u="none" strike="noStrike" noProof="0">
                          <a:solidFill>
                            <a:schemeClr val="tx1"/>
                          </a:solidFill>
                          <a:effectLst/>
                        </a:rPr>
                        <a:t>Revenue @ 15%</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5,625,000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48,000,000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216,000,000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rtl="0" fontAlgn="b"/>
                      <a:r>
                        <a:rPr lang="en-GB" sz="1200" b="1" u="none" strike="noStrike" noProof="0">
                          <a:solidFill>
                            <a:schemeClr val="tx1"/>
                          </a:solidFill>
                          <a:effectLst/>
                        </a:rPr>
                        <a:t>GROSS PROFIT</a:t>
                      </a:r>
                      <a:endParaRPr lang="en-GB" sz="1200" b="1"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5,625,000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48,000,000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216,000,000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rtl="0" fontAlgn="b"/>
                      <a:r>
                        <a:rPr lang="en-GB" sz="1200" b="0" u="none" strike="noStrike" noProof="0">
                          <a:solidFill>
                            <a:schemeClr val="tx1"/>
                          </a:solidFill>
                          <a:effectLst/>
                        </a:rPr>
                        <a:t>Expenses</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Sales &amp; marketing</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5,062,500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38,400,000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151,200,000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70%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Customer service</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1,687,500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9,600,000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21,600,000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10%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Product development</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562,500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10,800,000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5%</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rtl="0" fontAlgn="b">
                        <a:buFont typeface="Arial" panose="020B0604020202020204" pitchFamily="34" charset="0"/>
                        <a:buNone/>
                      </a:pPr>
                      <a:r>
                        <a:rPr lang="en-GB" sz="1200" b="0" u="none" strike="noStrike" noProof="0">
                          <a:solidFill>
                            <a:schemeClr val="tx1"/>
                          </a:solidFill>
                          <a:effectLst/>
                        </a:rPr>
                        <a:t>Research</a:t>
                      </a:r>
                      <a:endParaRPr lang="en-GB" sz="1200" b="0"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281,250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2,400,000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b"/>
                      <a:r>
                        <a:rPr lang="en-GB" sz="1200" b="0" u="none" strike="noStrike" noProof="0">
                          <a:solidFill>
                            <a:schemeClr val="tx1"/>
                          </a:solidFill>
                          <a:effectLst/>
                        </a:rPr>
                        <a:t>4,320,000</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rtl="0" fontAlgn="b"/>
                      <a:r>
                        <a:rPr lang="en-GB" sz="1200" b="0" u="none" strike="noStrike" noProof="0">
                          <a:solidFill>
                            <a:schemeClr val="tx1"/>
                          </a:solidFill>
                          <a:effectLst/>
                        </a:rPr>
                        <a:t>2%</a:t>
                      </a:r>
                      <a:endParaRPr lang="en-GB" sz="1200" b="0"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rtl="0" fontAlgn="b"/>
                      <a:r>
                        <a:rPr lang="en-GB" sz="1200" b="1" u="none" strike="noStrike" noProof="0">
                          <a:solidFill>
                            <a:schemeClr val="tx1"/>
                          </a:solidFill>
                          <a:effectLst/>
                        </a:rPr>
                        <a:t>TOTAL EXPENSES</a:t>
                      </a:r>
                      <a:endParaRPr lang="en-GB" sz="1200" b="1" i="0" u="none" strike="noStrike" noProof="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7,593,750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52,800,000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rtl="0" fontAlgn="b"/>
                      <a:r>
                        <a:rPr lang="en-GB" sz="1200" b="1" u="none" strike="noStrike" noProof="0">
                          <a:solidFill>
                            <a:schemeClr val="tx1"/>
                          </a:solidFill>
                          <a:effectLst/>
                        </a:rPr>
                        <a:t>187,920,000</a:t>
                      </a:r>
                      <a:endParaRPr lang="en-GB" sz="1200" b="1" i="0" u="none" strike="noStrike" noProof="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rtl="0" fontAlgn="b"/>
                      <a:endParaRPr lang="en-GB" sz="12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17</a:t>
            </a:fld>
            <a:endParaRPr lang="en-GB"/>
          </a:p>
        </p:txBody>
      </p:sp>
    </p:spTree>
    <p:extLst>
      <p:ext uri="{BB962C8B-B14F-4D97-AF65-F5344CB8AC3E}">
        <p14:creationId xmlns:p14="http://schemas.microsoft.com/office/powerpoint/2010/main" val="566997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rtlCol="0"/>
          <a:lstStyle/>
          <a:p>
            <a:pPr rtl="0"/>
            <a:r>
              <a:rPr lang="en-GB"/>
              <a:t>MEET THE TEAM</a:t>
            </a:r>
          </a:p>
        </p:txBody>
      </p:sp>
      <p:pic>
        <p:nvPicPr>
          <p:cNvPr id="26" name="Picture Placeholder 25" descr="Team member headshot">
            <a:extLst>
              <a:ext uri="{FF2B5EF4-FFF2-40B4-BE49-F238E27FC236}">
                <a16:creationId xmlns:a16="http://schemas.microsoft.com/office/drawing/2014/main" id="{C38F90B4-657F-4EA8-B86E-B9BD2E8B7BB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487181" y="2886074"/>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311558" y="5084524"/>
            <a:ext cx="2196619" cy="343061"/>
          </a:xfrm>
        </p:spPr>
        <p:txBody>
          <a:bodyPr rtlCol="0"/>
          <a:lstStyle/>
          <a:p>
            <a:pPr rtl="0"/>
            <a:r>
              <a:rPr lang="en-GB"/>
              <a:t>TAKUMA HAYASHI​</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rtlCol="0"/>
          <a:lstStyle/>
          <a:p>
            <a:pPr rtl="0"/>
            <a:r>
              <a:rPr lang="en-GB"/>
              <a:t>President</a:t>
            </a:r>
          </a:p>
        </p:txBody>
      </p:sp>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3836914" y="2886074"/>
            <a:ext cx="1845511" cy="1845511"/>
          </a:xfrm>
        </p:spPr>
      </p:pic>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3707607" y="5099206"/>
            <a:ext cx="2145049" cy="343061"/>
          </a:xfrm>
        </p:spPr>
        <p:txBody>
          <a:bodyPr rtlCol="0"/>
          <a:lstStyle/>
          <a:p>
            <a:pPr rtl="0"/>
            <a:r>
              <a:rPr lang="en-GB"/>
              <a:t>MIRJAM NILSSON​</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rtlCol="0"/>
          <a:lstStyle/>
          <a:p>
            <a:pPr rtl="0"/>
            <a:r>
              <a:rPr lang="en-GB"/>
              <a:t>Chief Executive Officer</a:t>
            </a:r>
          </a:p>
        </p:txBody>
      </p:sp>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6327578" y="2886074"/>
            <a:ext cx="1845511" cy="1845511"/>
          </a:xfrm>
        </p:spPr>
      </p:pic>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6198271" y="5099206"/>
            <a:ext cx="2132985" cy="343061"/>
          </a:xfrm>
        </p:spPr>
        <p:txBody>
          <a:bodyPr rtlCol="0"/>
          <a:lstStyle/>
          <a:p>
            <a:pPr rtl="0"/>
            <a:r>
              <a:rPr lang="en-GB"/>
              <a:t>FLORA BERGGREN​</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rtlCol="0"/>
          <a:lstStyle/>
          <a:p>
            <a:pPr rtl="0"/>
            <a:r>
              <a:rPr lang="en-GB"/>
              <a:t>Chief Operations Officer</a:t>
            </a:r>
          </a:p>
          <a:p>
            <a:pPr rtl="0"/>
            <a:endParaRPr lang="en-GB"/>
          </a:p>
        </p:txBody>
      </p:sp>
      <p:pic>
        <p:nvPicPr>
          <p:cNvPr id="43" name="Picture Placeholder 42" descr="Team member headshot">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6" cstate="screen">
            <a:extLst>
              <a:ext uri="{28A0092B-C50C-407E-A947-70E740481C1C}">
                <a14:useLocalDpi xmlns:a14="http://schemas.microsoft.com/office/drawing/2010/main" val="0"/>
              </a:ext>
            </a:extLst>
          </a:blip>
          <a:srcRect/>
          <a:stretch/>
        </p:blipFill>
        <p:spPr>
          <a:xfrm>
            <a:off x="8747458" y="2886074"/>
            <a:ext cx="1845511" cy="1845511"/>
          </a:xfrm>
        </p:spPr>
      </p:pic>
      <p:sp>
        <p:nvSpPr>
          <p:cNvPr id="35" name="Text Placeholder 34">
            <a:extLst>
              <a:ext uri="{FF2B5EF4-FFF2-40B4-BE49-F238E27FC236}">
                <a16:creationId xmlns:a16="http://schemas.microsoft.com/office/drawing/2014/main" id="{60D37431-6A3A-47F6-A367-B5ADCF66AE37}"/>
              </a:ext>
            </a:extLst>
          </p:cNvPr>
          <p:cNvSpPr>
            <a:spLocks noGrp="1"/>
          </p:cNvSpPr>
          <p:nvPr>
            <p:ph type="body" idx="20"/>
          </p:nvPr>
        </p:nvSpPr>
        <p:spPr>
          <a:xfrm>
            <a:off x="8618152" y="5084524"/>
            <a:ext cx="2132984" cy="343061"/>
          </a:xfrm>
        </p:spPr>
        <p:txBody>
          <a:bodyPr rtlCol="0"/>
          <a:lstStyle/>
          <a:p>
            <a:pPr rtl="0"/>
            <a:r>
              <a:rPr lang="en-GB"/>
              <a:t>RAJESH SANTOSHI​</a:t>
            </a:r>
          </a:p>
        </p:txBody>
      </p:sp>
      <p:sp>
        <p:nvSpPr>
          <p:cNvPr id="39" name="Text Placeholder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rtlCol="0"/>
          <a:lstStyle/>
          <a:p>
            <a:pPr rtl="0"/>
            <a:r>
              <a:rPr lang="en-GB"/>
              <a:t>VP Marketing</a:t>
            </a:r>
          </a:p>
          <a:p>
            <a:pPr rtl="0"/>
            <a:endParaRPr lang="en-GB"/>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18</a:t>
            </a:fld>
            <a:endParaRPr lang="en-GB"/>
          </a:p>
        </p:txBody>
      </p:sp>
    </p:spTree>
    <p:extLst>
      <p:ext uri="{BB962C8B-B14F-4D97-AF65-F5344CB8AC3E}">
        <p14:creationId xmlns:p14="http://schemas.microsoft.com/office/powerpoint/2010/main" val="3477453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rtlCol="0"/>
          <a:lstStyle/>
          <a:p>
            <a:pPr rtl="0"/>
            <a:r>
              <a:rPr lang="en-GB"/>
              <a:t>MEET THE TEAM </a:t>
            </a:r>
          </a:p>
        </p:txBody>
      </p:sp>
      <p:pic>
        <p:nvPicPr>
          <p:cNvPr id="38" name="Picture Placeholder 37" descr="Team member headshot">
            <a:extLst>
              <a:ext uri="{FF2B5EF4-FFF2-40B4-BE49-F238E27FC236}">
                <a16:creationId xmlns:a16="http://schemas.microsoft.com/office/drawing/2014/main" id="{76554518-1C01-4B26-9940-1C04FC9D73BA}"/>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1877176" y="2428875"/>
            <a:ext cx="1066800" cy="1066800"/>
          </a:xfrm>
        </p:spPr>
      </p:pic>
      <p:sp>
        <p:nvSpPr>
          <p:cNvPr id="36" name="Text Placeholder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rtlCol="0"/>
          <a:lstStyle/>
          <a:p>
            <a:pPr rtl="0"/>
            <a:r>
              <a:rPr lang="en-GB"/>
              <a:t>TAKUMA HAYASHI</a:t>
            </a:r>
          </a:p>
          <a:p>
            <a:pPr rtl="0"/>
            <a:endParaRPr lang="en-GB"/>
          </a:p>
        </p:txBody>
      </p:sp>
      <p:sp>
        <p:nvSpPr>
          <p:cNvPr id="52" name="Text Placeholder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rtlCol="0"/>
          <a:lstStyle/>
          <a:p>
            <a:pPr rtl="0"/>
            <a:r>
              <a:rPr lang="en-GB"/>
              <a:t>President</a:t>
            </a:r>
          </a:p>
        </p:txBody>
      </p:sp>
      <p:pic>
        <p:nvPicPr>
          <p:cNvPr id="42" name="Picture Placeholder 41" descr="Team member headshot">
            <a:extLst>
              <a:ext uri="{FF2B5EF4-FFF2-40B4-BE49-F238E27FC236}">
                <a16:creationId xmlns:a16="http://schemas.microsoft.com/office/drawing/2014/main" id="{CB092FE3-5F48-4433-B8FF-114D1CD7437D}"/>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a:stretch/>
        </p:blipFill>
        <p:spPr>
          <a:xfrm>
            <a:off x="4226270" y="2428875"/>
            <a:ext cx="1066800" cy="1066800"/>
          </a:xfrm>
        </p:spPr>
      </p:pic>
      <p:sp>
        <p:nvSpPr>
          <p:cNvPr id="49" name="Text Placeholder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rtlCol="0"/>
          <a:lstStyle/>
          <a:p>
            <a:pPr rtl="0"/>
            <a:r>
              <a:rPr lang="en-GB"/>
              <a:t>MIRJAM NILSSON​</a:t>
            </a:r>
          </a:p>
        </p:txBody>
      </p:sp>
      <p:sp>
        <p:nvSpPr>
          <p:cNvPr id="61" name="Text Placeholder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rtlCol="0"/>
          <a:lstStyle/>
          <a:p>
            <a:pPr rtl="0"/>
            <a:r>
              <a:rPr lang="en-GB"/>
              <a:t>Chief Executive Officer</a:t>
            </a:r>
          </a:p>
        </p:txBody>
      </p:sp>
      <p:pic>
        <p:nvPicPr>
          <p:cNvPr id="46" name="Picture Placeholder 45" descr="Team member headshot">
            <a:extLst>
              <a:ext uri="{FF2B5EF4-FFF2-40B4-BE49-F238E27FC236}">
                <a16:creationId xmlns:a16="http://schemas.microsoft.com/office/drawing/2014/main" id="{570FC090-540A-41E2-99FA-7B7BC171A64E}"/>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a:stretch/>
        </p:blipFill>
        <p:spPr>
          <a:xfrm>
            <a:off x="6716934" y="2428875"/>
            <a:ext cx="1066800" cy="1066800"/>
          </a:xfrm>
        </p:spPr>
      </p:pic>
      <p:sp>
        <p:nvSpPr>
          <p:cNvPr id="50" name="Text Placeholder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rtlCol="0"/>
          <a:lstStyle/>
          <a:p>
            <a:pPr rtl="0"/>
            <a:r>
              <a:rPr lang="en-GB"/>
              <a:t>FLORA BERGGREN​</a:t>
            </a:r>
          </a:p>
          <a:p>
            <a:pPr rtl="0"/>
            <a:endParaRPr lang="en-GB"/>
          </a:p>
        </p:txBody>
      </p:sp>
      <p:sp>
        <p:nvSpPr>
          <p:cNvPr id="62" name="Text Placeholder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rtlCol="0"/>
          <a:lstStyle/>
          <a:p>
            <a:pPr rtl="0"/>
            <a:r>
              <a:rPr lang="en-GB"/>
              <a:t>Chief Operations Officer</a:t>
            </a:r>
          </a:p>
        </p:txBody>
      </p:sp>
      <p:pic>
        <p:nvPicPr>
          <p:cNvPr id="54" name="Picture Placeholder 53" descr="Team member headshot">
            <a:extLst>
              <a:ext uri="{FF2B5EF4-FFF2-40B4-BE49-F238E27FC236}">
                <a16:creationId xmlns:a16="http://schemas.microsoft.com/office/drawing/2014/main" id="{79B06025-9CB9-45C4-BF20-7D0D27D1B814}"/>
              </a:ext>
            </a:extLst>
          </p:cNvPr>
          <p:cNvPicPr>
            <a:picLocks noGrp="1" noChangeAspect="1"/>
          </p:cNvPicPr>
          <p:nvPr>
            <p:ph type="pic" sz="quarter" idx="17"/>
          </p:nvPr>
        </p:nvPicPr>
        <p:blipFill rotWithShape="1">
          <a:blip r:embed="rId6">
            <a:extLst>
              <a:ext uri="{28A0092B-C50C-407E-A947-70E740481C1C}">
                <a14:useLocalDpi xmlns:a14="http://schemas.microsoft.com/office/drawing/2010/main" val="0"/>
              </a:ext>
            </a:extLst>
          </a:blip>
          <a:srcRect/>
          <a:stretch/>
        </p:blipFill>
        <p:spPr>
          <a:xfrm>
            <a:off x="9136814" y="2428875"/>
            <a:ext cx="1066800" cy="1066800"/>
          </a:xfrm>
        </p:spPr>
      </p:pic>
      <p:sp>
        <p:nvSpPr>
          <p:cNvPr id="51" name="Text Placeholder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rtlCol="0"/>
          <a:lstStyle/>
          <a:p>
            <a:pPr rtl="0"/>
            <a:r>
              <a:rPr lang="en-GB"/>
              <a:t>RAJESH SANTOSHI</a:t>
            </a:r>
          </a:p>
        </p:txBody>
      </p:sp>
      <p:sp>
        <p:nvSpPr>
          <p:cNvPr id="63" name="Text Placeholder 62">
            <a:extLst>
              <a:ext uri="{FF2B5EF4-FFF2-40B4-BE49-F238E27FC236}">
                <a16:creationId xmlns:a16="http://schemas.microsoft.com/office/drawing/2014/main" id="{41797063-0A46-4FCE-86CB-FC66F997C5F4}"/>
              </a:ext>
            </a:extLst>
          </p:cNvPr>
          <p:cNvSpPr>
            <a:spLocks noGrp="1"/>
          </p:cNvSpPr>
          <p:nvPr>
            <p:ph type="body" idx="24"/>
          </p:nvPr>
        </p:nvSpPr>
        <p:spPr>
          <a:xfrm>
            <a:off x="8634432" y="3782039"/>
            <a:ext cx="2057400" cy="343061"/>
          </a:xfrm>
        </p:spPr>
        <p:txBody>
          <a:bodyPr rtlCol="0"/>
          <a:lstStyle/>
          <a:p>
            <a:pPr rtl="0"/>
            <a:r>
              <a:rPr lang="en-GB"/>
              <a:t>VP Marketing</a:t>
            </a:r>
          </a:p>
        </p:txBody>
      </p:sp>
      <p:pic>
        <p:nvPicPr>
          <p:cNvPr id="58" name="Picture Placeholder 57" descr="Team member headshot">
            <a:extLst>
              <a:ext uri="{FF2B5EF4-FFF2-40B4-BE49-F238E27FC236}">
                <a16:creationId xmlns:a16="http://schemas.microsoft.com/office/drawing/2014/main" id="{84ACB9E1-B019-4966-9E07-8D06D40BDDD3}"/>
              </a:ext>
            </a:extLst>
          </p:cNvPr>
          <p:cNvPicPr>
            <a:picLocks noGrp="1" noChangeAspect="1"/>
          </p:cNvPicPr>
          <p:nvPr>
            <p:ph type="pic" sz="quarter" idx="26"/>
          </p:nvPr>
        </p:nvPicPr>
        <p:blipFill rotWithShape="1">
          <a:blip r:embed="rId7">
            <a:extLst>
              <a:ext uri="{28A0092B-C50C-407E-A947-70E740481C1C}">
                <a14:useLocalDpi xmlns:a14="http://schemas.microsoft.com/office/drawing/2010/main" val="0"/>
              </a:ext>
            </a:extLst>
          </a:blip>
          <a:srcRect/>
          <a:stretch/>
        </p:blipFill>
        <p:spPr>
          <a:xfrm>
            <a:off x="1877176" y="4287711"/>
            <a:ext cx="1066800" cy="1066800"/>
          </a:xfrm>
        </p:spPr>
      </p:pic>
      <p:sp>
        <p:nvSpPr>
          <p:cNvPr id="64" name="Text Placeholder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rtlCol="0"/>
          <a:lstStyle/>
          <a:p>
            <a:pPr rtl="0"/>
            <a:r>
              <a:rPr lang="en-GB"/>
              <a:t>GRAHAM BARNES</a:t>
            </a:r>
          </a:p>
          <a:p>
            <a:pPr rtl="0"/>
            <a:endParaRPr lang="en-GB"/>
          </a:p>
        </p:txBody>
      </p:sp>
      <p:sp>
        <p:nvSpPr>
          <p:cNvPr id="72" name="Text Placeholder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rtlCol="0"/>
          <a:lstStyle/>
          <a:p>
            <a:pPr rtl="0"/>
            <a:r>
              <a:rPr lang="en-GB"/>
              <a:t>VP Product</a:t>
            </a:r>
          </a:p>
        </p:txBody>
      </p:sp>
      <p:pic>
        <p:nvPicPr>
          <p:cNvPr id="66" name="Picture Placeholder 65" descr="Team member headshot">
            <a:extLst>
              <a:ext uri="{FF2B5EF4-FFF2-40B4-BE49-F238E27FC236}">
                <a16:creationId xmlns:a16="http://schemas.microsoft.com/office/drawing/2014/main" id="{D61AF03E-3F4A-4F5E-BA7C-C1DF611CEA4F}"/>
              </a:ext>
            </a:extLst>
          </p:cNvPr>
          <p:cNvPicPr>
            <a:picLocks noGrp="1" noChangeAspect="1"/>
          </p:cNvPicPr>
          <p:nvPr>
            <p:ph type="pic" sz="quarter" idx="27"/>
          </p:nvPr>
        </p:nvPicPr>
        <p:blipFill rotWithShape="1">
          <a:blip r:embed="rId8">
            <a:extLst>
              <a:ext uri="{28A0092B-C50C-407E-A947-70E740481C1C}">
                <a14:useLocalDpi xmlns:a14="http://schemas.microsoft.com/office/drawing/2010/main" val="0"/>
              </a:ext>
            </a:extLst>
          </a:blip>
          <a:srcRect/>
          <a:stretch/>
        </p:blipFill>
        <p:spPr>
          <a:xfrm>
            <a:off x="4226270" y="4287711"/>
            <a:ext cx="1066800" cy="1066800"/>
          </a:xfrm>
        </p:spPr>
      </p:pic>
      <p:sp>
        <p:nvSpPr>
          <p:cNvPr id="69" name="Text Placeholder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rtlCol="0"/>
          <a:lstStyle/>
          <a:p>
            <a:pPr rtl="0"/>
            <a:r>
              <a:rPr lang="en-GB"/>
              <a:t>ROWAN MURPHY</a:t>
            </a:r>
          </a:p>
          <a:p>
            <a:pPr rtl="0"/>
            <a:endParaRPr lang="en-GB"/>
          </a:p>
        </p:txBody>
      </p:sp>
      <p:sp>
        <p:nvSpPr>
          <p:cNvPr id="73" name="Text Placeholder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rtlCol="0"/>
          <a:lstStyle/>
          <a:p>
            <a:pPr rtl="0"/>
            <a:r>
              <a:rPr lang="en-GB"/>
              <a:t>SEO Strategist</a:t>
            </a:r>
          </a:p>
        </p:txBody>
      </p:sp>
      <p:pic>
        <p:nvPicPr>
          <p:cNvPr id="78" name="Picture Placeholder 77" descr="Team member headshot">
            <a:extLst>
              <a:ext uri="{FF2B5EF4-FFF2-40B4-BE49-F238E27FC236}">
                <a16:creationId xmlns:a16="http://schemas.microsoft.com/office/drawing/2014/main" id="{C0C63D45-D8C0-4899-A4AC-EA536EBA3E9D}"/>
              </a:ext>
            </a:extLst>
          </p:cNvPr>
          <p:cNvPicPr>
            <a:picLocks noGrp="1" noChangeAspect="1"/>
          </p:cNvPicPr>
          <p:nvPr>
            <p:ph type="pic" sz="quarter" idx="28"/>
          </p:nvPr>
        </p:nvPicPr>
        <p:blipFill rotWithShape="1">
          <a:blip r:embed="rId9">
            <a:extLst>
              <a:ext uri="{28A0092B-C50C-407E-A947-70E740481C1C}">
                <a14:useLocalDpi xmlns:a14="http://schemas.microsoft.com/office/drawing/2010/main" val="0"/>
              </a:ext>
            </a:extLst>
          </a:blip>
          <a:srcRect/>
          <a:stretch/>
        </p:blipFill>
        <p:spPr>
          <a:xfrm>
            <a:off x="6716934" y="4287711"/>
            <a:ext cx="1066800" cy="1066800"/>
          </a:xfrm>
        </p:spPr>
      </p:pic>
      <p:sp>
        <p:nvSpPr>
          <p:cNvPr id="70" name="Text Placeholder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rtlCol="0"/>
          <a:lstStyle/>
          <a:p>
            <a:pPr rtl="0"/>
            <a:r>
              <a:rPr lang="en-GB"/>
              <a:t>ELIZABETH MOORE</a:t>
            </a:r>
          </a:p>
        </p:txBody>
      </p:sp>
      <p:sp>
        <p:nvSpPr>
          <p:cNvPr id="74" name="Text Placeholder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rtlCol="0"/>
          <a:lstStyle/>
          <a:p>
            <a:pPr rtl="0"/>
            <a:r>
              <a:rPr lang="en-GB"/>
              <a:t>Product Designer</a:t>
            </a:r>
          </a:p>
        </p:txBody>
      </p:sp>
      <p:pic>
        <p:nvPicPr>
          <p:cNvPr id="83" name="Picture Placeholder 82" descr="Team member headshot">
            <a:extLst>
              <a:ext uri="{FF2B5EF4-FFF2-40B4-BE49-F238E27FC236}">
                <a16:creationId xmlns:a16="http://schemas.microsoft.com/office/drawing/2014/main" id="{3640DB2F-E9FF-4506-B751-D3C6F935A4DD}"/>
              </a:ext>
            </a:extLst>
          </p:cNvPr>
          <p:cNvPicPr>
            <a:picLocks noGrp="1" noChangeAspect="1"/>
          </p:cNvPicPr>
          <p:nvPr>
            <p:ph type="pic" sz="quarter" idx="29"/>
          </p:nvPr>
        </p:nvPicPr>
        <p:blipFill rotWithShape="1">
          <a:blip r:embed="rId10">
            <a:extLst>
              <a:ext uri="{28A0092B-C50C-407E-A947-70E740481C1C}">
                <a14:useLocalDpi xmlns:a14="http://schemas.microsoft.com/office/drawing/2010/main" val="0"/>
              </a:ext>
            </a:extLst>
          </a:blip>
          <a:srcRect/>
          <a:stretch/>
        </p:blipFill>
        <p:spPr>
          <a:xfrm>
            <a:off x="9136814" y="4287711"/>
            <a:ext cx="1066800" cy="1066800"/>
          </a:xfrm>
        </p:spPr>
      </p:pic>
      <p:sp>
        <p:nvSpPr>
          <p:cNvPr id="71" name="Text Placeholder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rtlCol="0"/>
          <a:lstStyle/>
          <a:p>
            <a:pPr rtl="0"/>
            <a:r>
              <a:rPr lang="en-GB"/>
              <a:t>ROBIN KLINE</a:t>
            </a:r>
          </a:p>
        </p:txBody>
      </p:sp>
      <p:sp>
        <p:nvSpPr>
          <p:cNvPr id="75" name="Text Placeholder 74">
            <a:extLst>
              <a:ext uri="{FF2B5EF4-FFF2-40B4-BE49-F238E27FC236}">
                <a16:creationId xmlns:a16="http://schemas.microsoft.com/office/drawing/2014/main" id="{72076C4D-9688-4C1A-AB51-8F1051A803A9}"/>
              </a:ext>
            </a:extLst>
          </p:cNvPr>
          <p:cNvSpPr>
            <a:spLocks noGrp="1"/>
          </p:cNvSpPr>
          <p:nvPr>
            <p:ph type="body" idx="36"/>
          </p:nvPr>
        </p:nvSpPr>
        <p:spPr>
          <a:xfrm>
            <a:off x="8634432" y="5640875"/>
            <a:ext cx="2057400" cy="343061"/>
          </a:xfrm>
        </p:spPr>
        <p:txBody>
          <a:bodyPr rtlCol="0"/>
          <a:lstStyle/>
          <a:p>
            <a:pPr rtl="0"/>
            <a:r>
              <a:rPr lang="en-GB"/>
              <a:t>Content Developer</a:t>
            </a:r>
          </a:p>
        </p:txBody>
      </p:sp>
      <p:sp>
        <p:nvSpPr>
          <p:cNvPr id="3" name="Date Placeholder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4" name="Footer Placeholder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5" name="Slide Number Placeholder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19</a:t>
            </a:fld>
            <a:endParaRPr lang="en-GB"/>
          </a:p>
        </p:txBody>
      </p:sp>
    </p:spTree>
    <p:extLst>
      <p:ext uri="{BB962C8B-B14F-4D97-AF65-F5344CB8AC3E}">
        <p14:creationId xmlns:p14="http://schemas.microsoft.com/office/powerpoint/2010/main" val="3396266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rtlCol="0"/>
          <a:lstStyle/>
          <a:p>
            <a:pPr rtl="0"/>
            <a:r>
              <a:rPr lang="en-GB" dirty="0"/>
              <a:t>FUNDING</a:t>
            </a:r>
          </a:p>
        </p:txBody>
      </p:sp>
      <p:graphicFrame>
        <p:nvGraphicFramePr>
          <p:cNvPr id="126" name="Content Placeholder 125" title="Funding Chart">
            <a:extLst>
              <a:ext uri="{FF2B5EF4-FFF2-40B4-BE49-F238E27FC236}">
                <a16:creationId xmlns:a16="http://schemas.microsoft.com/office/drawing/2014/main" id="{A036AFA2-B0F0-4DE7-B7AE-E4B852EB3D36}"/>
              </a:ext>
            </a:extLst>
          </p:cNvPr>
          <p:cNvGraphicFramePr>
            <a:graphicFrameLocks noGrp="1"/>
          </p:cNvGraphicFramePr>
          <p:nvPr>
            <p:ph sz="quarter" idx="21"/>
            <p:extLst>
              <p:ext uri="{D42A27DB-BD31-4B8C-83A1-F6EECF244321}">
                <p14:modId xmlns:p14="http://schemas.microsoft.com/office/powerpoint/2010/main" val="3956284514"/>
              </p:ext>
            </p:extLst>
          </p:nvPr>
        </p:nvGraphicFramePr>
        <p:xfrm>
          <a:off x="1074738" y="2119313"/>
          <a:ext cx="1857375" cy="16637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Placeholder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rtlCol="0"/>
          <a:lstStyle/>
          <a:p>
            <a:pPr rtl="0"/>
            <a:r>
              <a:rPr lang="en-GB" dirty="0"/>
              <a:t>£14,000</a:t>
            </a:r>
          </a:p>
        </p:txBody>
      </p:sp>
      <p:sp>
        <p:nvSpPr>
          <p:cNvPr id="14" name="Text Placeholder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rtlCol="0"/>
          <a:lstStyle/>
          <a:p>
            <a:pPr rtl="0"/>
            <a:r>
              <a:rPr lang="en-GB" dirty="0"/>
              <a:t>ANGEL INVESTMENTS</a:t>
            </a:r>
          </a:p>
        </p:txBody>
      </p:sp>
      <p:sp>
        <p:nvSpPr>
          <p:cNvPr id="4" name="Content Placeholder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rtlCol="0"/>
          <a:lstStyle/>
          <a:p>
            <a:pPr rtl="0"/>
            <a:r>
              <a:rPr lang="en-GB" dirty="0"/>
              <a:t>Amount obtained through other investors</a:t>
            </a:r>
          </a:p>
        </p:txBody>
      </p:sp>
      <p:graphicFrame>
        <p:nvGraphicFramePr>
          <p:cNvPr id="127" name="Content Placeholder 126" title="Funding Chart">
            <a:extLst>
              <a:ext uri="{FF2B5EF4-FFF2-40B4-BE49-F238E27FC236}">
                <a16:creationId xmlns:a16="http://schemas.microsoft.com/office/drawing/2014/main" id="{47DB352F-5059-4378-B91D-92E59C6B1B91}"/>
              </a:ext>
            </a:extLst>
          </p:cNvPr>
          <p:cNvGraphicFramePr>
            <a:graphicFrameLocks noGrp="1"/>
          </p:cNvGraphicFramePr>
          <p:nvPr>
            <p:ph sz="quarter" idx="22"/>
            <p:extLst>
              <p:ext uri="{D42A27DB-BD31-4B8C-83A1-F6EECF244321}">
                <p14:modId xmlns:p14="http://schemas.microsoft.com/office/powerpoint/2010/main" val="2847622083"/>
              </p:ext>
            </p:extLst>
          </p:nvPr>
        </p:nvGraphicFramePr>
        <p:xfrm>
          <a:off x="3811588" y="2119313"/>
          <a:ext cx="1855787" cy="16637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Placeholder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rtlCol="0"/>
          <a:lstStyle/>
          <a:p>
            <a:pPr rtl="0"/>
            <a:r>
              <a:rPr lang="en-GB" dirty="0"/>
              <a:t>£12,000</a:t>
            </a:r>
          </a:p>
        </p:txBody>
      </p:sp>
      <p:sp>
        <p:nvSpPr>
          <p:cNvPr id="15" name="Text Placeholder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rtlCol="0"/>
          <a:lstStyle/>
          <a:p>
            <a:pPr rtl="0"/>
            <a:r>
              <a:rPr lang="en-GB" dirty="0"/>
              <a:t>PROPERTY</a:t>
            </a:r>
          </a:p>
        </p:txBody>
      </p:sp>
      <p:sp>
        <p:nvSpPr>
          <p:cNvPr id="6" name="Content Placeholder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rtlCol="0"/>
          <a:lstStyle/>
          <a:p>
            <a:pPr rtl="0"/>
            <a:r>
              <a:rPr lang="en-GB" dirty="0"/>
              <a:t>Revenue obtained from property rentals</a:t>
            </a:r>
          </a:p>
        </p:txBody>
      </p:sp>
      <p:graphicFrame>
        <p:nvGraphicFramePr>
          <p:cNvPr id="128" name="Content Placeholder 127" title="Funding Chart">
            <a:extLst>
              <a:ext uri="{FF2B5EF4-FFF2-40B4-BE49-F238E27FC236}">
                <a16:creationId xmlns:a16="http://schemas.microsoft.com/office/drawing/2014/main" id="{87227872-8A65-49E5-922E-C5FA7A158972}"/>
              </a:ext>
            </a:extLst>
          </p:cNvPr>
          <p:cNvGraphicFramePr>
            <a:graphicFrameLocks noGrp="1"/>
          </p:cNvGraphicFramePr>
          <p:nvPr>
            <p:ph sz="quarter" idx="23"/>
            <p:extLst>
              <p:ext uri="{D42A27DB-BD31-4B8C-83A1-F6EECF244321}">
                <p14:modId xmlns:p14="http://schemas.microsoft.com/office/powerpoint/2010/main" val="877996400"/>
              </p:ext>
            </p:extLst>
          </p:nvPr>
        </p:nvGraphicFramePr>
        <p:xfrm>
          <a:off x="6524625" y="2119313"/>
          <a:ext cx="1855788" cy="166370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 Placeholder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rtlCol="0"/>
          <a:lstStyle/>
          <a:p>
            <a:pPr rtl="0"/>
            <a:r>
              <a:rPr lang="en-GB" dirty="0"/>
              <a:t>£82,000</a:t>
            </a:r>
          </a:p>
        </p:txBody>
      </p:sp>
      <p:sp>
        <p:nvSpPr>
          <p:cNvPr id="16" name="Text Placeholder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rtlCol="0"/>
          <a:lstStyle/>
          <a:p>
            <a:pPr rtl="0"/>
            <a:r>
              <a:rPr lang="en-GB" dirty="0"/>
              <a:t>SHARES</a:t>
            </a:r>
          </a:p>
        </p:txBody>
      </p:sp>
      <p:sp>
        <p:nvSpPr>
          <p:cNvPr id="11" name="Content Placeholder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rtlCol="0"/>
          <a:lstStyle/>
          <a:p>
            <a:pPr rtl="0"/>
            <a:r>
              <a:rPr lang="en-GB" dirty="0"/>
              <a:t>Number of shares converted into USD</a:t>
            </a:r>
          </a:p>
          <a:p>
            <a:pPr rtl="0"/>
            <a:endParaRPr lang="en-GB" noProof="1"/>
          </a:p>
        </p:txBody>
      </p:sp>
      <p:graphicFrame>
        <p:nvGraphicFramePr>
          <p:cNvPr id="129" name="Content Placeholder 128" title="Funding Chart">
            <a:extLst>
              <a:ext uri="{FF2B5EF4-FFF2-40B4-BE49-F238E27FC236}">
                <a16:creationId xmlns:a16="http://schemas.microsoft.com/office/drawing/2014/main" id="{C5A16E70-0D42-492E-9123-5E9A696ECB43}"/>
              </a:ext>
            </a:extLst>
          </p:cNvPr>
          <p:cNvGraphicFramePr>
            <a:graphicFrameLocks noGrp="1"/>
          </p:cNvGraphicFramePr>
          <p:nvPr>
            <p:ph sz="quarter" idx="24"/>
            <p:extLst>
              <p:ext uri="{D42A27DB-BD31-4B8C-83A1-F6EECF244321}">
                <p14:modId xmlns:p14="http://schemas.microsoft.com/office/powerpoint/2010/main" val="2196811517"/>
              </p:ext>
            </p:extLst>
          </p:nvPr>
        </p:nvGraphicFramePr>
        <p:xfrm>
          <a:off x="9259888" y="2119313"/>
          <a:ext cx="1857375" cy="1663700"/>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 Placeholder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rtlCol="0"/>
          <a:lstStyle/>
          <a:p>
            <a:pPr rtl="0"/>
            <a:r>
              <a:rPr lang="en-GB" dirty="0"/>
              <a:t>£32,000</a:t>
            </a:r>
          </a:p>
        </p:txBody>
      </p:sp>
      <p:sp>
        <p:nvSpPr>
          <p:cNvPr id="17" name="Text Placeholder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rtlCol="0"/>
          <a:lstStyle/>
          <a:p>
            <a:pPr rtl="0"/>
            <a:r>
              <a:rPr lang="en-GB" dirty="0"/>
              <a:t>CASH</a:t>
            </a:r>
          </a:p>
        </p:txBody>
      </p:sp>
      <p:sp>
        <p:nvSpPr>
          <p:cNvPr id="13" name="Content Placeholder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rtlCol="0"/>
          <a:lstStyle/>
          <a:p>
            <a:pPr rtl="0"/>
            <a:r>
              <a:rPr lang="en-GB" noProof="1"/>
              <a:t>Liquid cash we </a:t>
            </a:r>
            <a:br>
              <a:rPr lang="en-GB" noProof="1"/>
            </a:br>
            <a:r>
              <a:rPr lang="en-GB" noProof="1"/>
              <a:t>have on hand</a:t>
            </a:r>
          </a:p>
          <a:p>
            <a:pPr rtl="0"/>
            <a:endParaRPr lang="en-GB" dirty="0"/>
          </a:p>
        </p:txBody>
      </p:sp>
      <p:sp>
        <p:nvSpPr>
          <p:cNvPr id="7" name="Date Placeholder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rtlCol="0"/>
          <a:lstStyle/>
          <a:p>
            <a:pPr rtl="0"/>
            <a:r>
              <a:rPr lang="en-GB" dirty="0"/>
              <a:t>20XX</a:t>
            </a:r>
          </a:p>
        </p:txBody>
      </p:sp>
      <p:sp>
        <p:nvSpPr>
          <p:cNvPr id="8" name="Footer Placeholder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rtlCol="0"/>
          <a:lstStyle/>
          <a:p>
            <a:pPr rtl="0"/>
            <a:r>
              <a:rPr lang="en-GB" dirty="0"/>
              <a:t>Pitch Deck</a:t>
            </a:r>
          </a:p>
        </p:txBody>
      </p:sp>
      <p:sp>
        <p:nvSpPr>
          <p:cNvPr id="9" name="Slide Number Placeholder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20</a:t>
            </a:fld>
            <a:endParaRPr lang="en-GB" dirty="0"/>
          </a:p>
        </p:txBody>
      </p:sp>
    </p:spTree>
    <p:extLst>
      <p:ext uri="{BB962C8B-B14F-4D97-AF65-F5344CB8AC3E}">
        <p14:creationId xmlns:p14="http://schemas.microsoft.com/office/powerpoint/2010/main" val="1177824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rtlCol="0"/>
          <a:lstStyle/>
          <a:p>
            <a:pPr rtl="0"/>
            <a:r>
              <a:rPr lang="en-GB"/>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pPr rtl="0"/>
            <a:r>
              <a:rPr lang="en-GB" dirty="0"/>
              <a:t>At Contoso, we believe in giving 110%. By using our next-generation data architecture, we help organisations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21</a:t>
            </a:fld>
            <a:endParaRPr lang="en-GB"/>
          </a:p>
        </p:txBody>
      </p:sp>
    </p:spTree>
    <p:extLst>
      <p:ext uri="{BB962C8B-B14F-4D97-AF65-F5344CB8AC3E}">
        <p14:creationId xmlns:p14="http://schemas.microsoft.com/office/powerpoint/2010/main" val="920173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n-GB"/>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n-GB"/>
              <a:t>Mirjam Nilsson​</a:t>
            </a:r>
          </a:p>
          <a:p>
            <a:pPr rtl="0"/>
            <a:r>
              <a:rPr lang="en-GB"/>
              <a:t>206-555-0146</a:t>
            </a:r>
          </a:p>
          <a:p>
            <a:pPr rtl="0"/>
            <a:r>
              <a:rPr lang="en-GB"/>
              <a:t>mirjam@contoso.com</a:t>
            </a:r>
          </a:p>
          <a:p>
            <a:pPr rtl="0"/>
            <a:r>
              <a:rPr lang="en-GB"/>
              <a:t>www.contoso.com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n-GB"/>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22</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BA3906-9696-4247-AC0D-DD5C26B2A70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D446390-8521-40A2-A462-EA068123BED9}">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sales pitch</Template>
  <TotalTime>32</TotalTime>
  <Words>1008</Words>
  <Application>Microsoft Office PowerPoint</Application>
  <PresentationFormat>Widescreen</PresentationFormat>
  <Paragraphs>313</Paragraphs>
  <Slides>22</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Tenorite</vt:lpstr>
      <vt:lpstr>Monoline</vt:lpstr>
      <vt:lpstr>Quatrefoil</vt:lpstr>
      <vt:lpstr>What is a code first game engine?</vt:lpstr>
      <vt:lpstr>Why make a code first engine? - 3 reasons</vt:lpstr>
      <vt:lpstr>What is Opengl?</vt:lpstr>
      <vt:lpstr>Features of quatrefoil</vt:lpstr>
      <vt:lpstr>Engine structure.</vt:lpstr>
      <vt:lpstr>PowerPoint Presentation</vt:lpstr>
      <vt:lpstr>COMPANY OVERVIEW</vt:lpstr>
      <vt:lpstr>BUSINESS MODEL</vt:lpstr>
      <vt:lpstr>MARKET OVERVIEW</vt:lpstr>
      <vt:lpstr>Market comparison</vt:lpstr>
      <vt:lpstr>OUR COMPETITION</vt:lpstr>
      <vt:lpstr>Our competition  </vt:lpstr>
      <vt:lpstr>Growth strategy</vt:lpstr>
      <vt:lpstr>TRACTION</vt:lpstr>
      <vt:lpstr>TWO-YEAR ACTION PLAN</vt:lpstr>
      <vt:lpstr>FINANCIALS</vt:lpstr>
      <vt:lpstr>MEET THE TEAM</vt:lpstr>
      <vt:lpstr>MEET THE TEAM </vt:lpstr>
      <vt:lpstr>FUNDING</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Corey Medland</dc:creator>
  <cp:lastModifiedBy>Corey Medland</cp:lastModifiedBy>
  <cp:revision>8</cp:revision>
  <dcterms:created xsi:type="dcterms:W3CDTF">2025-06-01T22:11:13Z</dcterms:created>
  <dcterms:modified xsi:type="dcterms:W3CDTF">2025-06-01T22:44:00Z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